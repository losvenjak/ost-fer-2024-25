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1"/>
    <p:sldMasterId id="2147483651" r:id="rId2"/>
  </p:sldMasterIdLst>
  <p:notesMasterIdLst>
    <p:notesMasterId r:id="rId3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4630400" cy="8229600"/>
  <p:notesSz cx="10233025" cy="7102475"/>
  <p:defaultTextStyle>
    <a:defPPr>
      <a:defRPr lang="en-US"/>
    </a:defPPr>
    <a:lvl1pPr algn="l">
      <a:spcBef>
        <a:spcPts val="0"/>
      </a:spcBef>
      <a:spcAft>
        <a:spcPts val="0"/>
      </a:spcAft>
      <a:defRPr sz="2000">
        <a:solidFill>
          <a:schemeClr val="tx1"/>
        </a:solidFill>
        <a:latin typeface="Tahoma"/>
        <a:ea typeface="+mn-ea"/>
        <a:cs typeface="+mn-cs"/>
      </a:defRPr>
    </a:lvl1pPr>
    <a:lvl2pPr marL="457200" algn="l">
      <a:spcBef>
        <a:spcPts val="0"/>
      </a:spcBef>
      <a:spcAft>
        <a:spcPts val="0"/>
      </a:spcAft>
      <a:defRPr sz="2000">
        <a:solidFill>
          <a:schemeClr val="tx1"/>
        </a:solidFill>
        <a:latin typeface="Tahoma"/>
        <a:ea typeface="+mn-ea"/>
        <a:cs typeface="+mn-cs"/>
      </a:defRPr>
    </a:lvl2pPr>
    <a:lvl3pPr marL="914400" algn="l">
      <a:spcBef>
        <a:spcPts val="0"/>
      </a:spcBef>
      <a:spcAft>
        <a:spcPts val="0"/>
      </a:spcAft>
      <a:defRPr sz="2000">
        <a:solidFill>
          <a:schemeClr val="tx1"/>
        </a:solidFill>
        <a:latin typeface="Tahoma"/>
        <a:ea typeface="+mn-ea"/>
        <a:cs typeface="+mn-cs"/>
      </a:defRPr>
    </a:lvl3pPr>
    <a:lvl4pPr marL="1371600" algn="l">
      <a:spcBef>
        <a:spcPts val="0"/>
      </a:spcBef>
      <a:spcAft>
        <a:spcPts val="0"/>
      </a:spcAft>
      <a:defRPr sz="2000">
        <a:solidFill>
          <a:schemeClr val="tx1"/>
        </a:solidFill>
        <a:latin typeface="Tahoma"/>
        <a:ea typeface="+mn-ea"/>
        <a:cs typeface="+mn-cs"/>
      </a:defRPr>
    </a:lvl4pPr>
    <a:lvl5pPr marL="1828800" algn="l">
      <a:spcBef>
        <a:spcPts val="0"/>
      </a:spcBef>
      <a:spcAft>
        <a:spcPts val="0"/>
      </a:spcAft>
      <a:defRPr sz="2000">
        <a:solidFill>
          <a:schemeClr val="tx1"/>
        </a:solidFill>
        <a:latin typeface="Tahoma"/>
        <a:ea typeface="+mn-ea"/>
        <a:cs typeface="+mn-cs"/>
      </a:defRPr>
    </a:lvl5pPr>
    <a:lvl6pPr marL="2286000" algn="l" defTabSz="914400">
      <a:defRPr sz="2000">
        <a:solidFill>
          <a:schemeClr val="tx1"/>
        </a:solidFill>
        <a:latin typeface="Tahoma"/>
        <a:ea typeface="+mn-ea"/>
        <a:cs typeface="+mn-cs"/>
      </a:defRPr>
    </a:lvl6pPr>
    <a:lvl7pPr marL="2743200" algn="l" defTabSz="914400">
      <a:defRPr sz="2000">
        <a:solidFill>
          <a:schemeClr val="tx1"/>
        </a:solidFill>
        <a:latin typeface="Tahoma"/>
        <a:ea typeface="+mn-ea"/>
        <a:cs typeface="+mn-cs"/>
      </a:defRPr>
    </a:lvl7pPr>
    <a:lvl8pPr marL="3200400" algn="l" defTabSz="914400">
      <a:defRPr sz="2000">
        <a:solidFill>
          <a:schemeClr val="tx1"/>
        </a:solidFill>
        <a:latin typeface="Tahoma"/>
        <a:ea typeface="+mn-ea"/>
        <a:cs typeface="+mn-cs"/>
      </a:defRPr>
    </a:lvl8pPr>
    <a:lvl9pPr marL="3657600" algn="l" defTabSz="914400">
      <a:defRPr sz="2000">
        <a:solidFill>
          <a:schemeClr val="tx1"/>
        </a:solidFill>
        <a:latin typeface="Tahoma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762" y="66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26"/>
            <a:ext cx="6419046" cy="2281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6253" tIns="228128" rIns="456253" bIns="228128" numCol="1" anchor="t" anchorCtr="0" compatLnSpc="1">
            <a:prstTxWarp prst="textNoShape">
              <a:avLst/>
            </a:prstTxWarp>
          </a:bodyPr>
          <a:lstStyle>
            <a:lvl1pPr defTabSz="4563363">
              <a:defRPr sz="6200"/>
            </a:lvl1pPr>
          </a:lstStyle>
          <a:p>
            <a:pPr>
              <a:defRPr/>
            </a:pPr>
            <a:endParaRPr lang="hr-H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8386960" y="226"/>
            <a:ext cx="6419046" cy="2281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6253" tIns="228128" rIns="456253" bIns="228128" numCol="1" anchor="t" anchorCtr="0" compatLnSpc="1">
            <a:prstTxWarp prst="textNoShape">
              <a:avLst/>
            </a:prstTxWarp>
          </a:bodyPr>
          <a:lstStyle>
            <a:lvl1pPr algn="r" defTabSz="4563363">
              <a:defRPr sz="6200"/>
            </a:lvl1pPr>
          </a:lstStyle>
          <a:p>
            <a:pPr>
              <a:defRPr/>
            </a:pPr>
            <a:endParaRPr lang="hr-HR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145065750" y="34283650"/>
            <a:ext cx="304939700" cy="171529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480259" y="217286689"/>
            <a:ext cx="11848950" cy="20580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6253" tIns="228128" rIns="456253" bIns="228128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hr-HR"/>
              <a:t>Click to edit Master text styles</a:t>
            </a:r>
            <a:endParaRPr/>
          </a:p>
          <a:p>
            <a:pPr lvl="1">
              <a:defRPr/>
            </a:pPr>
            <a:r>
              <a:rPr lang="hr-HR"/>
              <a:t>Second level</a:t>
            </a:r>
            <a:endParaRPr/>
          </a:p>
          <a:p>
            <a:pPr lvl="2">
              <a:defRPr/>
            </a:pPr>
            <a:r>
              <a:rPr lang="hr-HR"/>
              <a:t>Third level</a:t>
            </a:r>
            <a:endParaRPr/>
          </a:p>
          <a:p>
            <a:pPr lvl="3">
              <a:defRPr/>
            </a:pPr>
            <a:r>
              <a:rPr lang="hr-HR"/>
              <a:t>Fourth level</a:t>
            </a:r>
            <a:endParaRPr/>
          </a:p>
          <a:p>
            <a:pPr lvl="4">
              <a:defRPr/>
            </a:pPr>
            <a:r>
              <a:rPr lang="hr-HR"/>
              <a:t>Fifth level</a:t>
            </a:r>
            <a:endParaRPr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434500286"/>
            <a:ext cx="6419046" cy="2281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6253" tIns="228128" rIns="456253" bIns="228128" numCol="1" anchor="b" anchorCtr="0" compatLnSpc="1">
            <a:prstTxWarp prst="textNoShape">
              <a:avLst/>
            </a:prstTxWarp>
          </a:bodyPr>
          <a:lstStyle>
            <a:lvl1pPr defTabSz="4563363">
              <a:defRPr sz="6200"/>
            </a:lvl1pPr>
          </a:lstStyle>
          <a:p>
            <a:pPr>
              <a:defRPr/>
            </a:pPr>
            <a:endParaRPr lang="hr-HR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8386960" y="434500286"/>
            <a:ext cx="6419046" cy="22818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56253" tIns="228128" rIns="456253" bIns="228128" numCol="1" anchor="b" anchorCtr="0" compatLnSpc="1">
            <a:prstTxWarp prst="textNoShape">
              <a:avLst/>
            </a:prstTxWarp>
          </a:bodyPr>
          <a:lstStyle>
            <a:lvl1pPr algn="r" defTabSz="4563363">
              <a:defRPr sz="6200"/>
            </a:lvl1pPr>
          </a:lstStyle>
          <a:p>
            <a:pPr>
              <a:defRPr/>
            </a:pPr>
            <a:fld id="{0CDB9CAC-1B02-4DA5-A782-15EF2BDB0AED}" type="slidenum">
              <a:rPr lang="hr-HR"/>
              <a:t>‹#›</a:t>
            </a:fld>
            <a:endParaRPr lang="hr-H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>
      <a:spcBef>
        <a:spcPts val="0"/>
      </a:spcBef>
      <a:spcAft>
        <a:spcPts val="0"/>
      </a:spcAft>
      <a:defRPr sz="1200">
        <a:solidFill>
          <a:schemeClr val="tx1"/>
        </a:solidFill>
        <a:latin typeface="Tahoma"/>
        <a:ea typeface="+mn-ea"/>
        <a:cs typeface="+mn-cs"/>
      </a:defRPr>
    </a:lvl1pPr>
    <a:lvl2pPr marL="457200" algn="l">
      <a:spcBef>
        <a:spcPts val="0"/>
      </a:spcBef>
      <a:spcAft>
        <a:spcPts val="0"/>
      </a:spcAft>
      <a:defRPr sz="1200">
        <a:solidFill>
          <a:schemeClr val="tx1"/>
        </a:solidFill>
        <a:latin typeface="Tahoma"/>
        <a:ea typeface="+mn-ea"/>
        <a:cs typeface="+mn-cs"/>
      </a:defRPr>
    </a:lvl2pPr>
    <a:lvl3pPr marL="914400" algn="l">
      <a:spcBef>
        <a:spcPts val="0"/>
      </a:spcBef>
      <a:spcAft>
        <a:spcPts val="0"/>
      </a:spcAft>
      <a:defRPr sz="1200">
        <a:solidFill>
          <a:schemeClr val="tx1"/>
        </a:solidFill>
        <a:latin typeface="Tahoma"/>
        <a:ea typeface="+mn-ea"/>
        <a:cs typeface="+mn-cs"/>
      </a:defRPr>
    </a:lvl3pPr>
    <a:lvl4pPr marL="1371600" algn="l">
      <a:spcBef>
        <a:spcPts val="0"/>
      </a:spcBef>
      <a:spcAft>
        <a:spcPts val="0"/>
      </a:spcAft>
      <a:defRPr sz="1200">
        <a:solidFill>
          <a:schemeClr val="tx1"/>
        </a:solidFill>
        <a:latin typeface="Tahoma"/>
        <a:ea typeface="+mn-ea"/>
        <a:cs typeface="+mn-cs"/>
      </a:defRPr>
    </a:lvl4pPr>
    <a:lvl5pPr marL="1828800" algn="l">
      <a:spcBef>
        <a:spcPts val="0"/>
      </a:spcBef>
      <a:spcAft>
        <a:spcPts val="0"/>
      </a:spcAft>
      <a:defRPr sz="1200">
        <a:solidFill>
          <a:schemeClr val="tx1"/>
        </a:solidFill>
        <a:latin typeface="Tahoma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3807C3-35F9-E61C-CFB1-411AC383F214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635F39-4AB6-9F71-F5B0-CDF708D49C2A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6B3F80-41B0-5BBE-9983-DB30C5A93292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983718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6023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1827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47523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61177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26818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lnSpc>
                <a:spcPts val="1425"/>
              </a:lnSpc>
            </a:pP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#IBI =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razlika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između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uzastopnih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qrs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vremenskih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oznaka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otkucaja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srca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</a:b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#HRV (Heart Rate Variability)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koristi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razlike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između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uzastopnih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IBI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vrijednosti</a:t>
            </a:r>
            <a:endParaRPr lang="en-US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#SDNN (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Standardna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devijacija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IBI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intervala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#RMSSD (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Kvadratni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korijen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srednje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kvadratične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razlike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uzastopnih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IBI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intervala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31ABF-3DD2-3B58-09DD-832E27CF6FD7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62122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191988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9174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B6C98-8D61-7C23-5BB5-BB010752DC95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20887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4305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#IBI =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razlika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između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uzastopnih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qrs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vremenskih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oznaka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otkucaja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srca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defRPr/>
            </a:pPr>
            <a:endParaRPr dirty="0"/>
          </a:p>
        </p:txBody>
      </p:sp>
      <p:sp>
        <p:nvSpPr>
          <p:cNvPr id="518655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976AD1-5319-2767-8A2C-5D4A8ABE0079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24796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06285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#SDNN (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Standardna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devijacija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IBI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intervala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defRPr/>
            </a:pPr>
            <a:endParaRPr dirty="0"/>
          </a:p>
        </p:txBody>
      </p:sp>
      <p:sp>
        <p:nvSpPr>
          <p:cNvPr id="1146570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19D403-91A7-FE3E-8DBA-E55A352E5EC1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9389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839634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#RMSSD (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Kvadratni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korijen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srednje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kvadratične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razlike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uzastopnih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IBI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intervala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defRPr/>
            </a:pPr>
            <a:endParaRPr dirty="0"/>
          </a:p>
        </p:txBody>
      </p:sp>
      <p:sp>
        <p:nvSpPr>
          <p:cNvPr id="1147688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7365CD-42B3-9943-64FC-E543F34F2ACA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#IBI =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razlika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između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uzastopnih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qrs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vremenskih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oznaka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otkucaja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srca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6F86C4-920F-01FE-22E8-9F4B43F94FA2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01387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24700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#SDNN (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Standardna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devijacija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IBI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intervala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defRPr/>
            </a:pPr>
            <a:endParaRPr dirty="0"/>
          </a:p>
        </p:txBody>
      </p:sp>
      <p:sp>
        <p:nvSpPr>
          <p:cNvPr id="1100091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CC89A7-B8B3-C174-B047-EEF166517A4E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61536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71815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#RMSSD (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Kvadratni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korijen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srednje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kvadratične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razlike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uzastopnih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IBI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intervala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defRPr/>
            </a:pPr>
            <a:endParaRPr dirty="0"/>
          </a:p>
        </p:txBody>
      </p:sp>
      <p:sp>
        <p:nvSpPr>
          <p:cNvPr id="681593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262540-E3CB-1459-8427-493605BE0ECC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72823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50168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022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56E9D8-1290-40A2-3824-8034BA5A45ED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70578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4566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937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58489F-4162-05D2-3A0B-7ECC28572865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DDBB40-67C9-DDE9-89FC-0EBEB09C84A1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#IBI =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razlika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između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uzastopnih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qrs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vremenskih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oznaka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otkucaja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srca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1668FB-A3DF-5206-52E5-20612DEED144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0608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94519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#SDNN (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Standardna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devijacija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IBI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intervala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0" dirty="0">
                <a:solidFill>
                  <a:srgbClr val="FFFFF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#RMSSD (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Kvadratni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korijen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srednje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kvadratične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razlike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uzastopnih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 IBI </a:t>
            </a:r>
            <a:r>
              <a:rPr lang="en-US" b="0" i="1" dirty="0" err="1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intervala</a:t>
            </a:r>
            <a:r>
              <a:rPr lang="en-US" b="0" i="1" dirty="0">
                <a:solidFill>
                  <a:srgbClr val="B362FF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FFFFFF"/>
              </a:solidFill>
              <a:effectLst/>
              <a:latin typeface="Consolas" panose="020B0609020204030204" pitchFamily="49" charset="0"/>
            </a:endParaRPr>
          </a:p>
          <a:p>
            <a:pPr>
              <a:defRPr/>
            </a:pPr>
            <a:endParaRPr dirty="0"/>
          </a:p>
        </p:txBody>
      </p:sp>
      <p:sp>
        <p:nvSpPr>
          <p:cNvPr id="5437810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6D0A99-4674-B2BD-996B-DE127BC81D2F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72204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71058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952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74B482-E9BD-6C76-8E45-D82E05A2DF53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48881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29159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4579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95F38E-ACE9-A6B7-E755-6B873B5DDBF8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44CB30-DFA9-5FB1-6C5C-1A0B71521637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38CA8E-34C7-CE54-330D-02FA9DA3EBDB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85443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397151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06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C0F1D4-0BBA-8142-64F6-1821A874C19F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5FACE9-A656-10A0-7C7E-C06448ED889E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75863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50681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55811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B6B8AC-6FAE-50D0-A8B8-4AE804C9032F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94514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519587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091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67E678-9A04-AF5E-B96B-96D3E9161CC9}" type="slidenum">
              <a:rPr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55749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25074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2508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61B494-9EB2-B71D-FAA5-68DF896BACDE}" type="slidenum">
              <a:rPr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74201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744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62223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EDAAD0-BB49-1C6E-305D-CD4F30D97607}" type="slidenum">
              <a:rPr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905887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798522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85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A2A5B-142E-20F9-A18D-65AE1297A024}" type="slidenum">
              <a:rPr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26486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796652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348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58631-F4CD-7CD1-9CAA-29C67D763E7C}" type="slidenum">
              <a:rPr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50342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850755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7824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6D8D4F-E03E-8565-09BA-92A616226A49}" type="slidenum">
              <a:rPr/>
              <a:t>34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517648" y="3588536"/>
            <a:ext cx="13249472" cy="562462"/>
          </a:xfrm>
          <a:ln algn="ctr"/>
        </p:spPr>
        <p:txBody>
          <a:bodyPr/>
          <a:lstStyle>
            <a:lvl1pPr algn="l">
              <a:defRPr sz="305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hr-HR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17648" y="4288159"/>
            <a:ext cx="13249472" cy="461665"/>
          </a:xfrm>
          <a:ln algn="ctr"/>
        </p:spPr>
        <p:txBody>
          <a:bodyPr/>
          <a:lstStyle>
            <a:lvl1pPr marL="0" indent="0" algn="l">
              <a:buFontTx/>
              <a:buNone/>
              <a:defRPr sz="2400"/>
            </a:lvl1pPr>
          </a:lstStyle>
          <a:p>
            <a:pPr>
              <a:defRPr/>
            </a:pPr>
            <a:r>
              <a:rPr lang="hr-HR"/>
              <a:t>Click to edit Master subtitle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 bwMode="auto">
          <a:xfrm>
            <a:off x="11148865" y="7791451"/>
            <a:ext cx="3291840" cy="438149"/>
          </a:xfrm>
        </p:spPr>
        <p:txBody>
          <a:bodyPr/>
          <a:lstStyle>
            <a:lvl1pPr>
              <a:defRPr sz="1300"/>
            </a:lvl1pPr>
          </a:lstStyle>
          <a:p>
            <a:pPr>
              <a:defRPr/>
            </a:pPr>
            <a:fld id="{C92FC937-38D6-4B8F-AEB3-E5F6C110AD7F}" type="slidenum">
              <a:rPr lang="hr-HR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171297" y="225833"/>
            <a:ext cx="14286388" cy="528927"/>
          </a:xfrm>
        </p:spPr>
        <p:txBody>
          <a:bodyPr/>
          <a:lstStyle>
            <a:lvl1pPr>
              <a:defRPr sz="285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171297" y="854527"/>
            <a:ext cx="14286388" cy="1683666"/>
          </a:xfrm>
        </p:spPr>
        <p:txBody>
          <a:bodyPr/>
          <a:lstStyle>
            <a:lvl1pPr>
              <a:defRPr sz="1950">
                <a:solidFill>
                  <a:schemeClr val="tx1"/>
                </a:solidFill>
              </a:defRPr>
            </a:lvl1pPr>
            <a:lvl2pPr>
              <a:defRPr sz="1750">
                <a:solidFill>
                  <a:srgbClr val="0070C0"/>
                </a:solidFill>
              </a:defRPr>
            </a:lvl2pPr>
            <a:lvl3pPr>
              <a:defRPr sz="1750">
                <a:solidFill>
                  <a:schemeClr val="tx1"/>
                </a:solidFill>
              </a:defRPr>
            </a:lvl3pPr>
            <a:lvl4pPr>
              <a:defRPr sz="1750">
                <a:solidFill>
                  <a:srgbClr val="0070C0"/>
                </a:solidFill>
              </a:defRPr>
            </a:lvl4pPr>
            <a:lvl5pPr>
              <a:defRPr sz="1750"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C937-38D6-4B8F-AEB3-E5F6C110AD7F}" type="slidenum">
              <a:rPr lang="hr-HR"/>
              <a:t>‹#›</a:t>
            </a:fld>
            <a:endParaRPr lang="hr-H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7"/>
          </p:nvPr>
        </p:nvSpPr>
        <p:spPr bwMode="auto">
          <a:xfrm>
            <a:off x="7659372" y="6699882"/>
            <a:ext cx="6824344" cy="514354"/>
          </a:xfrm>
        </p:spPr>
        <p:txBody>
          <a:bodyPr/>
          <a:lstStyle>
            <a:lvl1pPr algn="l">
              <a:defRPr sz="19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ttangolo 12"/>
          <p:cNvSpPr>
            <a:spLocks noChangeArrowheads="1"/>
          </p:cNvSpPr>
          <p:nvPr userDrawn="1"/>
        </p:nvSpPr>
        <p:spPr bwMode="auto">
          <a:xfrm>
            <a:off x="0" y="4708396"/>
            <a:ext cx="14630400" cy="1170432"/>
          </a:xfrm>
          <a:prstGeom prst="rect">
            <a:avLst/>
          </a:prstGeom>
          <a:gradFill>
            <a:gsLst>
              <a:gs pos="55000">
                <a:srgbClr val="0F75BC"/>
              </a:gs>
              <a:gs pos="9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</a:gra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de-DE" sz="2400">
              <a:solidFill>
                <a:srgbClr val="962636"/>
              </a:solidFill>
              <a:latin typeface="Calibri"/>
            </a:endParaRPr>
          </a:p>
        </p:txBody>
      </p:sp>
      <p:sp>
        <p:nvSpPr>
          <p:cNvPr id="10" name="Segnaposto numero diapositiva 5"/>
          <p:cNvSpPr txBox="1"/>
          <p:nvPr userDrawn="1"/>
        </p:nvSpPr>
        <p:spPr bwMode="auto">
          <a:xfrm>
            <a:off x="13474066" y="7863840"/>
            <a:ext cx="1009650" cy="30670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algn="r">
              <a:defRPr/>
            </a:pPr>
            <a:fld id="{43E442B1-F139-4CAB-B0D0-2CE05DB62936}" type="slidenum">
              <a:rPr lang="it-IT" sz="1450">
                <a:solidFill>
                  <a:srgbClr val="376092"/>
                </a:solidFill>
                <a:ea typeface="ＭＳ Ｐゴシック"/>
              </a:rPr>
              <a:t>‹#›</a:t>
            </a:fld>
            <a:endParaRPr lang="it-IT" sz="1450">
              <a:solidFill>
                <a:srgbClr val="376092"/>
              </a:solidFill>
              <a:ea typeface="ＭＳ Ｐゴシック"/>
            </a:endParaRP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auto">
          <a:xfrm>
            <a:off x="9890760" y="7736206"/>
            <a:ext cx="4528186" cy="12192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algn="ctr">
              <a:defRPr/>
            </a:pPr>
            <a:endParaRPr lang="en-GB" sz="950">
              <a:solidFill>
                <a:srgbClr val="376092"/>
              </a:solidFill>
              <a:latin typeface="Calibri"/>
              <a:ea typeface="ＭＳ Ｐゴシック"/>
              <a:cs typeface="Arial"/>
            </a:endParaRPr>
          </a:p>
        </p:txBody>
      </p:sp>
      <p:sp>
        <p:nvSpPr>
          <p:cNvPr id="13" name="Text Placeholder 5"/>
          <p:cNvSpPr txBox="1"/>
          <p:nvPr userDrawn="1"/>
        </p:nvSpPr>
        <p:spPr bwMode="auto">
          <a:xfrm>
            <a:off x="325756" y="853440"/>
            <a:ext cx="6564630" cy="12573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spcBef>
                <a:spcPts val="720"/>
              </a:spcBef>
              <a:buFont typeface="Arial"/>
              <a:buNone/>
              <a:defRPr/>
            </a:pPr>
            <a:endParaRPr lang="en-GB" sz="3350" b="1">
              <a:ea typeface="ＭＳ Ｐゴシック"/>
              <a:cs typeface="Arial"/>
            </a:endParaRPr>
          </a:p>
          <a:p>
            <a:pPr>
              <a:spcBef>
                <a:spcPts val="360"/>
              </a:spcBef>
              <a:spcAft>
                <a:spcPts val="360"/>
              </a:spcAft>
              <a:defRPr/>
            </a:pPr>
            <a:r>
              <a:rPr lang="en-GB" sz="2400" b="1">
                <a:solidFill>
                  <a:srgbClr val="2E74B5"/>
                </a:solidFill>
                <a:latin typeface="Arial"/>
                <a:ea typeface="Calibri"/>
                <a:cs typeface="Arial"/>
              </a:rPr>
              <a:t>Enhanced Pilot Interfaces &amp; Interactions </a:t>
            </a:r>
            <a:br>
              <a:rPr lang="en-GB" sz="2400" b="1">
                <a:solidFill>
                  <a:srgbClr val="2E74B5"/>
                </a:solidFill>
                <a:latin typeface="Arial"/>
                <a:ea typeface="Calibri"/>
                <a:cs typeface="Arial"/>
              </a:rPr>
            </a:br>
            <a:r>
              <a:rPr lang="en-GB" sz="2400" b="1">
                <a:solidFill>
                  <a:srgbClr val="2E74B5"/>
                </a:solidFill>
                <a:latin typeface="Arial"/>
                <a:ea typeface="Calibri"/>
                <a:cs typeface="Arial"/>
              </a:rPr>
              <a:t>for fighter Cockpit</a:t>
            </a:r>
            <a:endParaRPr lang="fr-FR" sz="2400">
              <a:latin typeface="Arial"/>
              <a:ea typeface="Times New Roman"/>
              <a:cs typeface="Times New Roman"/>
            </a:endParaRPr>
          </a:p>
          <a:p>
            <a:pPr>
              <a:defRPr/>
            </a:pPr>
            <a:endParaRPr lang="en-GB" sz="3350" b="1">
              <a:latin typeface="Calibri"/>
              <a:cs typeface="Arial"/>
            </a:endParaRPr>
          </a:p>
        </p:txBody>
      </p:sp>
      <p:sp>
        <p:nvSpPr>
          <p:cNvPr id="15" name="Text Placeholder 4"/>
          <p:cNvSpPr txBox="1"/>
          <p:nvPr userDrawn="1"/>
        </p:nvSpPr>
        <p:spPr bwMode="auto">
          <a:xfrm>
            <a:off x="1674608" y="4770120"/>
            <a:ext cx="10801350" cy="586740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3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742950" indent="-285750" algn="l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28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1143000" indent="-2286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600200" indent="-228600" algn="l">
              <a:spcBef>
                <a:spcPts val="0"/>
              </a:spcBef>
              <a:spcAft>
                <a:spcPts val="0"/>
              </a:spcAft>
              <a:buFont typeface="Arial"/>
              <a:buChar char="–"/>
              <a:defRPr sz="20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2057400" indent="-228600" algn="l">
              <a:spcBef>
                <a:spcPts val="0"/>
              </a:spcBef>
              <a:spcAft>
                <a:spcPts val="0"/>
              </a:spcAft>
              <a:buFont typeface="Arial"/>
              <a:buChar char="»"/>
              <a:defRPr sz="20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/>
            </a:pPr>
            <a:r>
              <a:rPr lang="en-GB" sz="1900">
                <a:solidFill>
                  <a:schemeClr val="bg1">
                    <a:lumMod val="95000"/>
                  </a:schemeClr>
                </a:solidFill>
                <a:latin typeface="Calibri"/>
                <a:cs typeface="Arial"/>
              </a:rPr>
              <a:t>Prepared by </a:t>
            </a:r>
            <a:endParaRPr/>
          </a:p>
        </p:txBody>
      </p:sp>
      <p:pic>
        <p:nvPicPr>
          <p:cNvPr id="18" name="Image 10" descr="C:\Users\T0030792\Pictures\EPIIC-logo-v1_new_full title.png"/>
          <p:cNvPicPr>
            <a:picLocks noChangeAspect="1" noChangeArrowheads="1"/>
          </p:cNvPicPr>
          <p:nvPr userDrawn="1"/>
        </p:nvPicPr>
        <p:blipFill>
          <a:blip r:embed="rId2"/>
          <a:srcRect b="23539"/>
          <a:stretch/>
        </p:blipFill>
        <p:spPr bwMode="auto">
          <a:xfrm>
            <a:off x="377191" y="91440"/>
            <a:ext cx="2777490" cy="96774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Text Placeholder 18"/>
          <p:cNvSpPr>
            <a:spLocks noGrp="1"/>
          </p:cNvSpPr>
          <p:nvPr>
            <p:ph type="body" sz="quarter" idx="10"/>
          </p:nvPr>
        </p:nvSpPr>
        <p:spPr bwMode="auto">
          <a:xfrm>
            <a:off x="99062" y="4093183"/>
            <a:ext cx="9947221" cy="514354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1900" b="1">
                <a:solidFill>
                  <a:schemeClr val="bg1">
                    <a:lumMod val="95000"/>
                  </a:schemeClr>
                </a:solidFill>
                <a:latin typeface="Calibri"/>
                <a:ea typeface="+mn-ea"/>
                <a:cs typeface="Arial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31" name="Text Placeholder 18"/>
          <p:cNvSpPr>
            <a:spLocks noGrp="1"/>
          </p:cNvSpPr>
          <p:nvPr>
            <p:ph type="body" sz="quarter" idx="11"/>
          </p:nvPr>
        </p:nvSpPr>
        <p:spPr bwMode="auto">
          <a:xfrm>
            <a:off x="326510" y="2086642"/>
            <a:ext cx="9947221" cy="421003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2900" b="1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Arial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32" name="Text Placeholder 18"/>
          <p:cNvSpPr>
            <a:spLocks noGrp="1"/>
          </p:cNvSpPr>
          <p:nvPr>
            <p:ph type="body" sz="quarter" idx="12"/>
          </p:nvPr>
        </p:nvSpPr>
        <p:spPr bwMode="auto">
          <a:xfrm>
            <a:off x="326510" y="2526697"/>
            <a:ext cx="9947221" cy="417193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2900" b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Arial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33" name="Text Placeholder 18"/>
          <p:cNvSpPr>
            <a:spLocks noGrp="1"/>
          </p:cNvSpPr>
          <p:nvPr>
            <p:ph type="body" sz="quarter" idx="13"/>
          </p:nvPr>
        </p:nvSpPr>
        <p:spPr bwMode="auto">
          <a:xfrm>
            <a:off x="326510" y="2962940"/>
            <a:ext cx="9947221" cy="392430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2900" b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Arial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35" name="Text Placeholder 18"/>
          <p:cNvSpPr>
            <a:spLocks noGrp="1"/>
          </p:cNvSpPr>
          <p:nvPr>
            <p:ph type="body" sz="quarter" idx="14"/>
          </p:nvPr>
        </p:nvSpPr>
        <p:spPr bwMode="auto">
          <a:xfrm>
            <a:off x="2015655" y="5167993"/>
            <a:ext cx="9947221" cy="514354"/>
          </a:xfrm>
          <a:prstGeom prst="rect">
            <a:avLst/>
          </a:prstGeom>
        </p:spPr>
        <p:txBody>
          <a:bodyPr anchor="ctr" anchorCtr="0"/>
          <a:lstStyle>
            <a:lvl1pPr marL="0" marR="0" indent="0" algn="ctr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1900" b="1">
                <a:solidFill>
                  <a:schemeClr val="bg1">
                    <a:lumMod val="95000"/>
                  </a:schemeClr>
                </a:solidFill>
                <a:latin typeface="Calibri"/>
                <a:ea typeface="+mn-ea"/>
                <a:cs typeface="Arial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37" name="Text Placeholder 18"/>
          <p:cNvSpPr>
            <a:spLocks noGrp="1"/>
          </p:cNvSpPr>
          <p:nvPr>
            <p:ph type="body" sz="quarter" idx="15"/>
          </p:nvPr>
        </p:nvSpPr>
        <p:spPr bwMode="auto">
          <a:xfrm>
            <a:off x="377060" y="5990559"/>
            <a:ext cx="11750621" cy="514354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109728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2900" b="1">
                <a:solidFill>
                  <a:schemeClr val="bg1">
                    <a:lumMod val="50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pic>
        <p:nvPicPr>
          <p:cNvPr id="24" name="Image 23"/>
          <p:cNvPicPr/>
          <p:nvPr userDrawn="1"/>
        </p:nvPicPr>
        <p:blipFill>
          <a:blip r:embed="rId3"/>
          <a:stretch/>
        </p:blipFill>
        <p:spPr bwMode="auto">
          <a:xfrm>
            <a:off x="12531472" y="137824"/>
            <a:ext cx="1887474" cy="11704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5"/>
          <p:cNvSpPr txBox="1"/>
          <p:nvPr userDrawn="1"/>
        </p:nvSpPr>
        <p:spPr bwMode="auto">
          <a:xfrm>
            <a:off x="13474066" y="7863840"/>
            <a:ext cx="1009650" cy="30670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algn="r">
              <a:defRPr/>
            </a:pPr>
            <a:fld id="{0D0EDF17-CA05-4950-BBA6-8653ADF03F83}" type="slidenum">
              <a:rPr lang="it-IT" sz="1450">
                <a:solidFill>
                  <a:srgbClr val="376092"/>
                </a:solidFill>
                <a:ea typeface="ＭＳ Ｐゴシック"/>
              </a:rPr>
              <a:t>‹#›</a:t>
            </a:fld>
            <a:endParaRPr lang="it-IT" sz="1450">
              <a:solidFill>
                <a:srgbClr val="376092"/>
              </a:solidFill>
              <a:ea typeface="ＭＳ Ｐゴシック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9890760" y="7736206"/>
            <a:ext cx="4528186" cy="12192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algn="ctr">
              <a:defRPr/>
            </a:pPr>
            <a:endParaRPr lang="en-GB" sz="950">
              <a:solidFill>
                <a:srgbClr val="376092"/>
              </a:solidFill>
              <a:latin typeface="Calibri"/>
              <a:ea typeface="ＭＳ Ｐゴシック"/>
              <a:cs typeface="Arial"/>
            </a:endParaRPr>
          </a:p>
        </p:txBody>
      </p:sp>
      <p:sp>
        <p:nvSpPr>
          <p:cNvPr id="6" name="Rettangolo 12"/>
          <p:cNvSpPr>
            <a:spLocks noChangeArrowheads="1"/>
          </p:cNvSpPr>
          <p:nvPr userDrawn="1"/>
        </p:nvSpPr>
        <p:spPr bwMode="auto">
          <a:xfrm>
            <a:off x="0" y="1906"/>
            <a:ext cx="14630400" cy="1022983"/>
          </a:xfrm>
          <a:prstGeom prst="rect">
            <a:avLst/>
          </a:prstGeom>
          <a:gradFill>
            <a:gsLst>
              <a:gs pos="37000">
                <a:srgbClr val="0F75BC"/>
              </a:gs>
              <a:gs pos="78000">
                <a:schemeClr val="bg1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de-DE" sz="2400">
              <a:solidFill>
                <a:srgbClr val="962636"/>
              </a:solidFill>
              <a:latin typeface="Times New Roman"/>
              <a:cs typeface="Times New Roman"/>
            </a:endParaRPr>
          </a:p>
        </p:txBody>
      </p:sp>
      <p:pic>
        <p:nvPicPr>
          <p:cNvPr id="7" name="Image 4" descr="C:\Users\T0030792\Pictures\EPIIC-logo-v1_new_full title.png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23539"/>
          <a:stretch/>
        </p:blipFill>
        <p:spPr bwMode="auto">
          <a:xfrm>
            <a:off x="11757660" y="-3809"/>
            <a:ext cx="287274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ontent Placeholder 2"/>
          <p:cNvSpPr>
            <a:spLocks noGrp="1"/>
          </p:cNvSpPr>
          <p:nvPr>
            <p:ph idx="1"/>
          </p:nvPr>
        </p:nvSpPr>
        <p:spPr bwMode="auto">
          <a:xfrm>
            <a:off x="333956" y="1148353"/>
            <a:ext cx="13785952" cy="6157760"/>
          </a:xfrm>
          <a:prstGeom prst="rect">
            <a:avLst/>
          </a:prstGeom>
        </p:spPr>
        <p:txBody>
          <a:bodyPr/>
          <a:lstStyle>
            <a:lvl1pPr marL="411480" indent="-411480"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q"/>
              <a:defRPr sz="2900">
                <a:solidFill>
                  <a:schemeClr val="tx2"/>
                </a:solidFill>
                <a:latin typeface="Times New Roman"/>
                <a:cs typeface="Times New Roman"/>
              </a:defRPr>
            </a:lvl1pPr>
            <a:lvl2pPr marL="891540" indent="-342900"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Ø"/>
              <a:defRPr sz="2400">
                <a:solidFill>
                  <a:schemeClr val="tx2"/>
                </a:solidFill>
                <a:latin typeface="Times New Roman"/>
                <a:cs typeface="Times New Roman"/>
              </a:defRPr>
            </a:lvl2pPr>
            <a:lvl3pPr marL="1371600" indent="-274320"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ü"/>
              <a:defRPr sz="2150">
                <a:solidFill>
                  <a:schemeClr val="tx2"/>
                </a:solidFill>
                <a:latin typeface="Times New Roman"/>
                <a:cs typeface="Times New Roman"/>
              </a:defRPr>
            </a:lvl3pPr>
            <a:lvl4pPr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§"/>
              <a:defRPr sz="1900">
                <a:solidFill>
                  <a:schemeClr val="tx2"/>
                </a:solidFill>
                <a:latin typeface="Times New Roman"/>
                <a:cs typeface="Times New Roman"/>
              </a:defRPr>
            </a:lvl4pPr>
            <a:lvl5pPr marL="2468880" indent="-274320">
              <a:buClr>
                <a:schemeClr val="tx2">
                  <a:lumMod val="60000"/>
                  <a:lumOff val="40000"/>
                </a:schemeClr>
              </a:buClr>
              <a:buFont typeface="Arial"/>
              <a:buChar char="•"/>
              <a:defRPr sz="1700">
                <a:solidFill>
                  <a:schemeClr val="tx2"/>
                </a:solidFill>
                <a:latin typeface="Times New Roman"/>
                <a:cs typeface="Times New Roman"/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 </a:t>
            </a:r>
            <a:endParaRPr lang="en-GB"/>
          </a:p>
        </p:txBody>
      </p:sp>
      <p:sp>
        <p:nvSpPr>
          <p:cNvPr id="27" name="Text Placeholder 18"/>
          <p:cNvSpPr>
            <a:spLocks noGrp="1"/>
          </p:cNvSpPr>
          <p:nvPr>
            <p:ph type="body" sz="quarter" idx="10"/>
          </p:nvPr>
        </p:nvSpPr>
        <p:spPr bwMode="auto">
          <a:xfrm>
            <a:off x="115338" y="141935"/>
            <a:ext cx="11893784" cy="743328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GB" sz="3100" b="1">
                <a:solidFill>
                  <a:schemeClr val="bg1"/>
                </a:solidFill>
                <a:latin typeface="Times New Roman"/>
                <a:ea typeface="ＭＳ Ｐゴシック"/>
                <a:cs typeface="Times New Roman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5"/>
          <p:cNvSpPr txBox="1"/>
          <p:nvPr userDrawn="1"/>
        </p:nvSpPr>
        <p:spPr bwMode="auto">
          <a:xfrm>
            <a:off x="13474066" y="7863840"/>
            <a:ext cx="1009650" cy="30670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algn="r">
              <a:defRPr/>
            </a:pPr>
            <a:fld id="{058C5E31-4B0F-44C1-951D-1E57BE556FF1}" type="slidenum">
              <a:rPr lang="it-IT" sz="1450">
                <a:solidFill>
                  <a:srgbClr val="376092"/>
                </a:solidFill>
                <a:ea typeface="ＭＳ Ｐゴシック"/>
              </a:rPr>
              <a:t>‹#›</a:t>
            </a:fld>
            <a:endParaRPr lang="it-IT" sz="1450">
              <a:solidFill>
                <a:srgbClr val="376092"/>
              </a:solidFill>
              <a:ea typeface="ＭＳ Ｐゴシック"/>
            </a:endParaRPr>
          </a:p>
        </p:txBody>
      </p:sp>
      <p:sp>
        <p:nvSpPr>
          <p:cNvPr id="6" name="Rectangle 9"/>
          <p:cNvSpPr>
            <a:spLocks noChangeArrowheads="1"/>
          </p:cNvSpPr>
          <p:nvPr userDrawn="1"/>
        </p:nvSpPr>
        <p:spPr bwMode="auto">
          <a:xfrm>
            <a:off x="9890760" y="7736206"/>
            <a:ext cx="4528186" cy="12192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algn="ctr">
              <a:defRPr/>
            </a:pPr>
            <a:endParaRPr lang="en-GB" sz="950">
              <a:solidFill>
                <a:srgbClr val="376092"/>
              </a:solidFill>
              <a:latin typeface="Calibri"/>
              <a:ea typeface="ＭＳ Ｐゴシック"/>
              <a:cs typeface="Arial"/>
            </a:endParaRPr>
          </a:p>
        </p:txBody>
      </p:sp>
      <p:sp>
        <p:nvSpPr>
          <p:cNvPr id="7" name="Rettangolo 12"/>
          <p:cNvSpPr>
            <a:spLocks noChangeArrowheads="1"/>
          </p:cNvSpPr>
          <p:nvPr userDrawn="1"/>
        </p:nvSpPr>
        <p:spPr bwMode="auto">
          <a:xfrm>
            <a:off x="0" y="1310640"/>
            <a:ext cx="14630400" cy="5981700"/>
          </a:xfrm>
          <a:prstGeom prst="rect">
            <a:avLst/>
          </a:prstGeom>
          <a:gradFill>
            <a:gsLst>
              <a:gs pos="37000">
                <a:srgbClr val="0F75BC"/>
              </a:gs>
              <a:gs pos="100000">
                <a:schemeClr val="bg1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de-DE" sz="2400">
              <a:solidFill>
                <a:srgbClr val="962636"/>
              </a:solidFill>
              <a:latin typeface="Calibri"/>
            </a:endParaRPr>
          </a:p>
        </p:txBody>
      </p:sp>
      <p:pic>
        <p:nvPicPr>
          <p:cNvPr id="8" name="Image 4" descr="C:\Users\T0030792\Pictures\EPIIC-logo-v1_new_full title.png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23539"/>
          <a:stretch/>
        </p:blipFill>
        <p:spPr bwMode="auto">
          <a:xfrm>
            <a:off x="11757660" y="-3809"/>
            <a:ext cx="287274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Placeholder 5"/>
          <p:cNvSpPr txBox="1"/>
          <p:nvPr userDrawn="1"/>
        </p:nvSpPr>
        <p:spPr bwMode="auto">
          <a:xfrm>
            <a:off x="2350770" y="468630"/>
            <a:ext cx="12376786" cy="12573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>
              <a:spcBef>
                <a:spcPts val="720"/>
              </a:spcBef>
              <a:buFont typeface="Arial"/>
              <a:buNone/>
              <a:defRPr/>
            </a:pPr>
            <a:endParaRPr lang="en-GB" sz="3350" b="1">
              <a:latin typeface="Times New Roman"/>
              <a:ea typeface="ＭＳ Ｐゴシック"/>
              <a:cs typeface="Times New Roman"/>
            </a:endParaRPr>
          </a:p>
          <a:p>
            <a:pPr>
              <a:spcBef>
                <a:spcPts val="360"/>
              </a:spcBef>
              <a:spcAft>
                <a:spcPts val="360"/>
              </a:spcAft>
              <a:defRPr/>
            </a:pPr>
            <a:r>
              <a:rPr lang="en-GB" sz="2400" b="1">
                <a:solidFill>
                  <a:srgbClr val="2E74B5"/>
                </a:solidFill>
                <a:latin typeface="Times New Roman"/>
                <a:ea typeface="Calibri"/>
                <a:cs typeface="Times New Roman"/>
              </a:rPr>
              <a:t>Enhanced Pilot Interfaces &amp; Interactions for fighter Cockpit</a:t>
            </a:r>
            <a:endParaRPr lang="fr-FR" sz="2400"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endParaRPr lang="en-GB" sz="3350" b="1">
              <a:latin typeface="Times New Roman"/>
              <a:cs typeface="Times New Roman"/>
            </a:endParaRPr>
          </a:p>
        </p:txBody>
      </p:sp>
      <p:sp>
        <p:nvSpPr>
          <p:cNvPr id="27" name="Text Placeholder 18"/>
          <p:cNvSpPr>
            <a:spLocks noGrp="1"/>
          </p:cNvSpPr>
          <p:nvPr>
            <p:ph type="body" sz="quarter" idx="10"/>
          </p:nvPr>
        </p:nvSpPr>
        <p:spPr bwMode="auto">
          <a:xfrm>
            <a:off x="115338" y="141935"/>
            <a:ext cx="11893784" cy="743328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GB" sz="3100" b="1">
                <a:solidFill>
                  <a:schemeClr val="bg1"/>
                </a:solidFill>
                <a:latin typeface="+mj-lt"/>
                <a:ea typeface="ＭＳ Ｐゴシック"/>
                <a:cs typeface="+mn-cs"/>
              </a:defRPr>
            </a:lvl1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8" name="Text Placeholder 18"/>
          <p:cNvSpPr>
            <a:spLocks noGrp="1"/>
          </p:cNvSpPr>
          <p:nvPr>
            <p:ph type="body" sz="quarter" idx="11"/>
          </p:nvPr>
        </p:nvSpPr>
        <p:spPr bwMode="auto">
          <a:xfrm>
            <a:off x="407925" y="3296177"/>
            <a:ext cx="9947221" cy="514354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6500" b="1">
                <a:solidFill>
                  <a:schemeClr val="bg1">
                    <a:lumMod val="95000"/>
                  </a:schemeClr>
                </a:solidFill>
                <a:latin typeface="Times New Roman"/>
                <a:ea typeface="+mn-ea"/>
                <a:cs typeface="Times New Roman"/>
              </a:defRPr>
            </a:lvl1pPr>
          </a:lstStyle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 bwMode="auto">
          <a:xfrm>
            <a:off x="407925" y="4865501"/>
            <a:ext cx="9947221" cy="514354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109728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en-US" sz="3350" b="1">
                <a:solidFill>
                  <a:schemeClr val="bg1">
                    <a:lumMod val="95000"/>
                  </a:schemeClr>
                </a:solidFill>
                <a:latin typeface="Times New Roman"/>
                <a:ea typeface="+mn-ea"/>
                <a:cs typeface="Times New Roman"/>
              </a:defRPr>
            </a:lvl1pPr>
          </a:lstStyle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Questi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5"/>
          <p:cNvSpPr txBox="1"/>
          <p:nvPr userDrawn="1"/>
        </p:nvSpPr>
        <p:spPr bwMode="auto">
          <a:xfrm>
            <a:off x="13474066" y="7863840"/>
            <a:ext cx="1009650" cy="30670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algn="r">
              <a:defRPr/>
            </a:pPr>
            <a:fld id="{F80B6441-FE66-49D6-BFDD-59CD8082C7B3}" type="slidenum">
              <a:rPr lang="it-IT" sz="1450">
                <a:solidFill>
                  <a:srgbClr val="376092"/>
                </a:solidFill>
                <a:ea typeface="ＭＳ Ｐゴシック"/>
              </a:rPr>
              <a:t>‹#›</a:t>
            </a:fld>
            <a:endParaRPr lang="it-IT" sz="1450">
              <a:solidFill>
                <a:srgbClr val="376092"/>
              </a:solidFill>
              <a:ea typeface="ＭＳ Ｐゴシック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9890760" y="7736206"/>
            <a:ext cx="4528186" cy="12192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algn="ctr">
              <a:defRPr/>
            </a:pPr>
            <a:endParaRPr lang="en-GB" sz="950">
              <a:solidFill>
                <a:srgbClr val="376092"/>
              </a:solidFill>
              <a:latin typeface="Calibri"/>
              <a:ea typeface="ＭＳ Ｐゴシック"/>
              <a:cs typeface="Arial"/>
            </a:endParaRPr>
          </a:p>
        </p:txBody>
      </p:sp>
      <p:sp>
        <p:nvSpPr>
          <p:cNvPr id="6" name="Rettangolo 12"/>
          <p:cNvSpPr>
            <a:spLocks noChangeArrowheads="1"/>
          </p:cNvSpPr>
          <p:nvPr userDrawn="1"/>
        </p:nvSpPr>
        <p:spPr bwMode="auto">
          <a:xfrm>
            <a:off x="0" y="1906"/>
            <a:ext cx="14630400" cy="1022983"/>
          </a:xfrm>
          <a:prstGeom prst="rect">
            <a:avLst/>
          </a:prstGeom>
          <a:gradFill>
            <a:gsLst>
              <a:gs pos="37000">
                <a:srgbClr val="0F75BC"/>
              </a:gs>
              <a:gs pos="78000">
                <a:schemeClr val="bg1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de-DE" sz="2400">
              <a:solidFill>
                <a:srgbClr val="962636"/>
              </a:solidFill>
              <a:latin typeface="Calibri"/>
            </a:endParaRPr>
          </a:p>
        </p:txBody>
      </p:sp>
      <p:pic>
        <p:nvPicPr>
          <p:cNvPr id="7" name="Image 4" descr="C:\Users\T0030792\Pictures\EPIIC-logo-v1_new_full title.png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23539"/>
          <a:stretch/>
        </p:blipFill>
        <p:spPr bwMode="auto">
          <a:xfrm>
            <a:off x="11757660" y="-3809"/>
            <a:ext cx="2872740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3"/>
          <a:stretch/>
        </p:blipFill>
        <p:spPr bwMode="auto">
          <a:xfrm>
            <a:off x="200026" y="1202056"/>
            <a:ext cx="4059554" cy="596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ontent Placeholder 2"/>
          <p:cNvSpPr>
            <a:spLocks noGrp="1"/>
          </p:cNvSpPr>
          <p:nvPr>
            <p:ph idx="1"/>
          </p:nvPr>
        </p:nvSpPr>
        <p:spPr bwMode="auto">
          <a:xfrm>
            <a:off x="4375490" y="1148352"/>
            <a:ext cx="9744418" cy="6410688"/>
          </a:xfrm>
          <a:prstGeom prst="rect">
            <a:avLst/>
          </a:prstGeom>
        </p:spPr>
        <p:txBody>
          <a:bodyPr/>
          <a:lstStyle>
            <a:lvl1pPr marL="411480" indent="-411480"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q"/>
              <a:defRPr sz="2900">
                <a:solidFill>
                  <a:schemeClr val="tx2"/>
                </a:solidFill>
                <a:latin typeface="Times New Roman"/>
                <a:cs typeface="Times New Roman"/>
              </a:defRPr>
            </a:lvl1pPr>
            <a:lvl2pPr marL="891540" indent="-342900"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Ø"/>
              <a:defRPr sz="2400">
                <a:solidFill>
                  <a:schemeClr val="tx2"/>
                </a:solidFill>
                <a:latin typeface="Times New Roman"/>
                <a:cs typeface="Times New Roman"/>
              </a:defRPr>
            </a:lvl2pPr>
            <a:lvl3pPr marL="1371600" indent="-274320"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ü"/>
              <a:defRPr sz="2150">
                <a:solidFill>
                  <a:schemeClr val="tx2"/>
                </a:solidFill>
                <a:latin typeface="Times New Roman"/>
                <a:cs typeface="Times New Roman"/>
              </a:defRPr>
            </a:lvl3pPr>
            <a:lvl4pPr>
              <a:buClr>
                <a:schemeClr val="tx2">
                  <a:lumMod val="60000"/>
                  <a:lumOff val="40000"/>
                </a:schemeClr>
              </a:buClr>
              <a:buFont typeface="Wingdings"/>
              <a:buChar char="§"/>
              <a:defRPr sz="1900">
                <a:solidFill>
                  <a:schemeClr val="tx2"/>
                </a:solidFill>
                <a:latin typeface="Times New Roman"/>
                <a:cs typeface="Times New Roman"/>
              </a:defRPr>
            </a:lvl4pPr>
            <a:lvl5pPr marL="2468880" indent="-274320">
              <a:buClr>
                <a:schemeClr val="tx2">
                  <a:lumMod val="60000"/>
                  <a:lumOff val="40000"/>
                </a:schemeClr>
              </a:buClr>
              <a:buFont typeface="Arial"/>
              <a:buChar char="•"/>
              <a:defRPr sz="1700">
                <a:solidFill>
                  <a:schemeClr val="tx2"/>
                </a:solidFill>
                <a:latin typeface="Times New Roman"/>
                <a:cs typeface="Times New Roman"/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 </a:t>
            </a:r>
            <a:endParaRPr lang="en-GB"/>
          </a:p>
        </p:txBody>
      </p:sp>
      <p:sp>
        <p:nvSpPr>
          <p:cNvPr id="27" name="Text Placeholder 18"/>
          <p:cNvSpPr>
            <a:spLocks noGrp="1"/>
          </p:cNvSpPr>
          <p:nvPr>
            <p:ph type="body" sz="quarter" idx="10"/>
          </p:nvPr>
        </p:nvSpPr>
        <p:spPr bwMode="auto">
          <a:xfrm>
            <a:off x="313509" y="141935"/>
            <a:ext cx="8001284" cy="743328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GB" sz="3100" b="1">
                <a:solidFill>
                  <a:schemeClr val="bg1"/>
                </a:solidFill>
                <a:latin typeface="Times New Roman"/>
                <a:ea typeface="ＭＳ Ｐゴシック"/>
                <a:cs typeface="Times New Roman"/>
              </a:defRPr>
            </a:lvl1pPr>
          </a:lstStyle>
          <a:p>
            <a:pPr lvl="0">
              <a:defRPr/>
            </a:pPr>
            <a:r>
              <a:rPr lang="fr-FR"/>
              <a:t>Modifier les styles du texte du masque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2720" y="203944"/>
            <a:ext cx="14284960" cy="56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rgbClr val="C0C0C0">
                <a:alpha val="50000"/>
              </a:srgbClr>
            </a:outerShdw>
          </a:effec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2720" y="874441"/>
            <a:ext cx="14284960" cy="2301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11165840" y="7837298"/>
            <a:ext cx="3291840" cy="4381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92FC937-38D6-4B8F-AEB3-E5F6C110AD7F}" type="slidenum">
              <a:rPr lang="hr-HR"/>
              <a:t>‹#›</a:t>
            </a:fld>
            <a:endParaRPr lang="hr-H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>
        <a:spcBef>
          <a:spcPts val="0"/>
        </a:spcBef>
        <a:spcAft>
          <a:spcPts val="0"/>
        </a:spcAft>
        <a:defRPr sz="3100" b="1">
          <a:solidFill>
            <a:schemeClr val="tx2"/>
          </a:solidFill>
          <a:latin typeface="+mj-lt"/>
          <a:ea typeface="+mj-ea"/>
          <a:cs typeface="+mj-cs"/>
        </a:defRPr>
      </a:lvl1pPr>
      <a:lvl2pPr algn="l">
        <a:spcBef>
          <a:spcPts val="0"/>
        </a:spcBef>
        <a:spcAft>
          <a:spcPts val="0"/>
        </a:spcAft>
        <a:defRPr sz="4250" b="1">
          <a:solidFill>
            <a:schemeClr val="tx2"/>
          </a:solidFill>
          <a:latin typeface="Tahoma"/>
        </a:defRPr>
      </a:lvl2pPr>
      <a:lvl3pPr algn="l">
        <a:spcBef>
          <a:spcPts val="0"/>
        </a:spcBef>
        <a:spcAft>
          <a:spcPts val="0"/>
        </a:spcAft>
        <a:defRPr sz="4250" b="1">
          <a:solidFill>
            <a:schemeClr val="tx2"/>
          </a:solidFill>
          <a:latin typeface="Tahoma"/>
        </a:defRPr>
      </a:lvl3pPr>
      <a:lvl4pPr algn="l">
        <a:spcBef>
          <a:spcPts val="0"/>
        </a:spcBef>
        <a:spcAft>
          <a:spcPts val="0"/>
        </a:spcAft>
        <a:defRPr sz="4250" b="1">
          <a:solidFill>
            <a:schemeClr val="tx2"/>
          </a:solidFill>
          <a:latin typeface="Tahoma"/>
        </a:defRPr>
      </a:lvl4pPr>
      <a:lvl5pPr algn="l">
        <a:spcBef>
          <a:spcPts val="0"/>
        </a:spcBef>
        <a:spcAft>
          <a:spcPts val="0"/>
        </a:spcAft>
        <a:defRPr sz="4250" b="1">
          <a:solidFill>
            <a:schemeClr val="tx2"/>
          </a:solidFill>
          <a:latin typeface="Tahoma"/>
        </a:defRPr>
      </a:lvl5pPr>
      <a:lvl6pPr marL="607715" algn="l">
        <a:spcBef>
          <a:spcPts val="0"/>
        </a:spcBef>
        <a:spcAft>
          <a:spcPts val="0"/>
        </a:spcAft>
        <a:defRPr sz="4800" b="1">
          <a:solidFill>
            <a:schemeClr val="tx2"/>
          </a:solidFill>
          <a:latin typeface="Tahoma"/>
        </a:defRPr>
      </a:lvl6pPr>
      <a:lvl7pPr marL="1215429" algn="l">
        <a:spcBef>
          <a:spcPts val="0"/>
        </a:spcBef>
        <a:spcAft>
          <a:spcPts val="0"/>
        </a:spcAft>
        <a:defRPr sz="4800" b="1">
          <a:solidFill>
            <a:schemeClr val="tx2"/>
          </a:solidFill>
          <a:latin typeface="Tahoma"/>
        </a:defRPr>
      </a:lvl7pPr>
      <a:lvl8pPr marL="1823144" algn="l">
        <a:spcBef>
          <a:spcPts val="0"/>
        </a:spcBef>
        <a:spcAft>
          <a:spcPts val="0"/>
        </a:spcAft>
        <a:defRPr sz="4800" b="1">
          <a:solidFill>
            <a:schemeClr val="tx2"/>
          </a:solidFill>
          <a:latin typeface="Tahoma"/>
        </a:defRPr>
      </a:lvl8pPr>
      <a:lvl9pPr marL="2430858" algn="l">
        <a:spcBef>
          <a:spcPts val="0"/>
        </a:spcBef>
        <a:spcAft>
          <a:spcPts val="0"/>
        </a:spcAft>
        <a:defRPr sz="4800" b="1">
          <a:solidFill>
            <a:schemeClr val="tx2"/>
          </a:solidFill>
          <a:latin typeface="Tahoma"/>
        </a:defRPr>
      </a:lvl9pPr>
    </p:titleStyle>
    <p:bodyStyle>
      <a:lvl1pPr marL="455786" indent="-455786" algn="l">
        <a:spcBef>
          <a:spcPts val="0"/>
        </a:spcBef>
        <a:spcAft>
          <a:spcPts val="0"/>
        </a:spcAft>
        <a:buChar char="•"/>
        <a:defRPr sz="2650">
          <a:solidFill>
            <a:schemeClr val="tx1"/>
          </a:solidFill>
          <a:latin typeface="+mn-lt"/>
          <a:ea typeface="+mn-ea"/>
          <a:cs typeface="+mn-cs"/>
        </a:defRPr>
      </a:lvl1pPr>
      <a:lvl2pPr marL="987536" indent="-379822" algn="l">
        <a:spcBef>
          <a:spcPts val="0"/>
        </a:spcBef>
        <a:spcAft>
          <a:spcPts val="0"/>
        </a:spcAft>
        <a:buChar char="–"/>
        <a:defRPr sz="2450">
          <a:solidFill>
            <a:schemeClr val="tx1"/>
          </a:solidFill>
          <a:latin typeface="+mn-lt"/>
        </a:defRPr>
      </a:lvl2pPr>
      <a:lvl3pPr marL="1519287" indent="-303858" algn="l">
        <a:spcBef>
          <a:spcPts val="0"/>
        </a:spcBef>
        <a:spcAft>
          <a:spcPts val="0"/>
        </a:spcAft>
        <a:buChar char="•"/>
        <a:defRPr sz="2450">
          <a:solidFill>
            <a:schemeClr val="tx1"/>
          </a:solidFill>
          <a:latin typeface="+mn-lt"/>
        </a:defRPr>
      </a:lvl3pPr>
      <a:lvl4pPr marL="2127002" indent="-303858" algn="l">
        <a:spcBef>
          <a:spcPts val="0"/>
        </a:spcBef>
        <a:spcAft>
          <a:spcPts val="0"/>
        </a:spcAft>
        <a:buChar char="–"/>
        <a:defRPr sz="2450">
          <a:solidFill>
            <a:schemeClr val="tx1"/>
          </a:solidFill>
          <a:latin typeface="+mn-lt"/>
        </a:defRPr>
      </a:lvl4pPr>
      <a:lvl5pPr marL="2734716" indent="-303858" algn="l">
        <a:spcBef>
          <a:spcPts val="0"/>
        </a:spcBef>
        <a:spcAft>
          <a:spcPts val="0"/>
        </a:spcAft>
        <a:buChar char="»"/>
        <a:defRPr sz="2450">
          <a:solidFill>
            <a:schemeClr val="tx1"/>
          </a:solidFill>
          <a:latin typeface="+mn-lt"/>
        </a:defRPr>
      </a:lvl5pPr>
      <a:lvl6pPr marL="3342430" indent="-303858" algn="l">
        <a:spcBef>
          <a:spcPts val="0"/>
        </a:spcBef>
        <a:spcAft>
          <a:spcPts val="0"/>
        </a:spcAft>
        <a:buChar char="»"/>
        <a:defRPr>
          <a:solidFill>
            <a:srgbClr val="5F5F5F"/>
          </a:solidFill>
          <a:latin typeface="+mn-lt"/>
        </a:defRPr>
      </a:lvl6pPr>
      <a:lvl7pPr marL="3950144" indent="-303858" algn="l">
        <a:spcBef>
          <a:spcPts val="0"/>
        </a:spcBef>
        <a:spcAft>
          <a:spcPts val="0"/>
        </a:spcAft>
        <a:buChar char="»"/>
        <a:defRPr>
          <a:solidFill>
            <a:srgbClr val="5F5F5F"/>
          </a:solidFill>
          <a:latin typeface="+mn-lt"/>
        </a:defRPr>
      </a:lvl7pPr>
      <a:lvl8pPr marL="4557859" indent="-303858" algn="l">
        <a:spcBef>
          <a:spcPts val="0"/>
        </a:spcBef>
        <a:spcAft>
          <a:spcPts val="0"/>
        </a:spcAft>
        <a:buChar char="»"/>
        <a:defRPr>
          <a:solidFill>
            <a:srgbClr val="5F5F5F"/>
          </a:solidFill>
          <a:latin typeface="+mn-lt"/>
        </a:defRPr>
      </a:lvl8pPr>
      <a:lvl9pPr marL="5165573" indent="-303858" algn="l">
        <a:spcBef>
          <a:spcPts val="0"/>
        </a:spcBef>
        <a:spcAft>
          <a:spcPts val="0"/>
        </a:spcAft>
        <a:buChar char="»"/>
        <a:defRPr>
          <a:solidFill>
            <a:srgbClr val="5F5F5F"/>
          </a:solidFill>
          <a:latin typeface="+mn-lt"/>
        </a:defRPr>
      </a:lvl9pPr>
    </p:bodyStyle>
    <p:otherStyle>
      <a:defPPr>
        <a:defRPr lang="en-US"/>
      </a:defPPr>
      <a:lvl1pPr marL="0" algn="l" defTabSz="1215429"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07715" algn="l" defTabSz="1215429"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215429" algn="l" defTabSz="1215429"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823144" algn="l" defTabSz="1215429">
        <a:defRPr sz="2400">
          <a:solidFill>
            <a:schemeClr val="tx1"/>
          </a:solidFill>
          <a:latin typeface="+mn-lt"/>
          <a:ea typeface="+mn-ea"/>
          <a:cs typeface="+mn-cs"/>
        </a:defRPr>
      </a:lvl4pPr>
      <a:lvl5pPr marL="2430858" algn="l" defTabSz="1215429">
        <a:defRPr sz="2400">
          <a:solidFill>
            <a:schemeClr val="tx1"/>
          </a:solidFill>
          <a:latin typeface="+mn-lt"/>
          <a:ea typeface="+mn-ea"/>
          <a:cs typeface="+mn-cs"/>
        </a:defRPr>
      </a:lvl5pPr>
      <a:lvl6pPr marL="3038573" algn="l" defTabSz="1215429">
        <a:defRPr sz="2400">
          <a:solidFill>
            <a:schemeClr val="tx1"/>
          </a:solidFill>
          <a:latin typeface="+mn-lt"/>
          <a:ea typeface="+mn-ea"/>
          <a:cs typeface="+mn-cs"/>
        </a:defRPr>
      </a:lvl6pPr>
      <a:lvl7pPr marL="3646286" algn="l" defTabSz="1215429">
        <a:defRPr sz="2400">
          <a:solidFill>
            <a:schemeClr val="tx1"/>
          </a:solidFill>
          <a:latin typeface="+mn-lt"/>
          <a:ea typeface="+mn-ea"/>
          <a:cs typeface="+mn-cs"/>
        </a:defRPr>
      </a:lvl7pPr>
      <a:lvl8pPr marL="4254002" algn="l" defTabSz="1215429">
        <a:defRPr sz="2400">
          <a:solidFill>
            <a:schemeClr val="tx1"/>
          </a:solidFill>
          <a:latin typeface="+mn-lt"/>
          <a:ea typeface="+mn-ea"/>
          <a:cs typeface="+mn-cs"/>
        </a:defRPr>
      </a:lvl8pPr>
      <a:lvl9pPr marL="4861716" algn="l" defTabSz="1215429">
        <a:defRPr sz="24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 userDrawn="1"/>
        </p:nvSpPr>
        <p:spPr bwMode="auto">
          <a:xfrm rot="16199998">
            <a:off x="-1104536" y="3943350"/>
            <a:ext cx="2733220" cy="3429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algn="ctr">
              <a:defRPr/>
            </a:pPr>
            <a:r>
              <a:rPr lang="en-GB" sz="950">
                <a:solidFill>
                  <a:srgbClr val="376092"/>
                </a:solidFill>
                <a:latin typeface="Calibri"/>
                <a:ea typeface="ＭＳ Ｐゴシック"/>
                <a:cs typeface="Arial"/>
              </a:rPr>
              <a:t>.</a:t>
            </a:r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 rot="16199998">
            <a:off x="-952691" y="5890881"/>
            <a:ext cx="2267717" cy="1810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1533256" y="7621455"/>
            <a:ext cx="9736454" cy="14859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/>
              </a:defRPr>
            </a:lvl9pPr>
          </a:lstStyle>
          <a:p>
            <a:pPr algn="ctr">
              <a:defRPr/>
            </a:pPr>
            <a:r>
              <a:rPr lang="en-US" sz="1200" b="1">
                <a:solidFill>
                  <a:srgbClr val="376092"/>
                </a:solidFill>
                <a:latin typeface="Calibri"/>
                <a:ea typeface="ＭＳ Ｐゴシック"/>
                <a:cs typeface="Arial"/>
              </a:rPr>
              <a:t>“SENSITIVE, only for members of the EPIIC consortium and European Commission - EU Project”</a:t>
            </a:r>
            <a:endParaRPr lang="en-GB" sz="1200" b="1">
              <a:solidFill>
                <a:srgbClr val="376092"/>
              </a:solidFill>
              <a:latin typeface="Calibri"/>
              <a:ea typeface="ＭＳ Ｐゴシック"/>
              <a:cs typeface="Arial"/>
            </a:endParaRPr>
          </a:p>
        </p:txBody>
      </p:sp>
      <p:pic>
        <p:nvPicPr>
          <p:cNvPr id="7" name="Image 6"/>
          <p:cNvPicPr/>
          <p:nvPr userDrawn="1"/>
        </p:nvPicPr>
        <p:blipFill>
          <a:blip r:embed="rId6"/>
          <a:stretch/>
        </p:blipFill>
        <p:spPr bwMode="auto">
          <a:xfrm>
            <a:off x="24765" y="7524205"/>
            <a:ext cx="3129786" cy="707300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 bwMode="auto">
          <a:xfrm>
            <a:off x="3359985" y="7825240"/>
            <a:ext cx="10856939" cy="3877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GB" sz="950">
                <a:solidFill>
                  <a:srgbClr val="376092"/>
                </a:solidFill>
                <a:latin typeface="Calibri"/>
                <a:ea typeface="ＭＳ Ｐゴシック"/>
                <a:cs typeface="Arial"/>
              </a:rPr>
              <a:t>This document was co-funded by the European Union under the Grant Agreement 101103592. </a:t>
            </a:r>
            <a:r>
              <a:rPr lang="en-US" sz="950">
                <a:solidFill>
                  <a:srgbClr val="376092"/>
                </a:solidFill>
                <a:latin typeface="Calibri"/>
                <a:ea typeface="ＭＳ Ｐゴシック"/>
                <a:cs typeface="Arial"/>
              </a:rPr>
              <a:t>It is confidential and its content is the property of the companies indicated in the slide “Intellectual Property”.  </a:t>
            </a:r>
            <a:endParaRPr/>
          </a:p>
          <a:p>
            <a:pPr algn="l">
              <a:defRPr/>
            </a:pPr>
            <a:r>
              <a:rPr lang="en-US" sz="950">
                <a:solidFill>
                  <a:srgbClr val="376092"/>
                </a:solidFill>
                <a:latin typeface="Calibri"/>
                <a:ea typeface="ＭＳ Ｐゴシック"/>
                <a:cs typeface="Arial"/>
              </a:rPr>
              <a:t>Its content shall not be copied, disclosed or used in whole or in part without the formal approval of the owning companies.</a:t>
            </a:r>
            <a:endParaRPr lang="fr-FR" sz="950">
              <a:solidFill>
                <a:srgbClr val="376092"/>
              </a:solidFill>
              <a:latin typeface="Calibri"/>
              <a:ea typeface="ＭＳ Ｐゴシック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</p:sldLayoutIdLst>
  <p:hf hdr="0" ftr="0" dt="0"/>
  <p:txStyles>
    <p:titleStyle>
      <a:lvl1pPr algn="ctr">
        <a:spcBef>
          <a:spcPts val="0"/>
        </a:spcBef>
        <a:spcAft>
          <a:spcPts val="0"/>
        </a:spcAft>
        <a:defRPr sz="5300">
          <a:solidFill>
            <a:schemeClr val="tx1"/>
          </a:solidFill>
          <a:latin typeface="Arial"/>
          <a:ea typeface="+mj-ea"/>
          <a:cs typeface="+mj-cs"/>
        </a:defRPr>
      </a:lvl1pPr>
      <a:lvl2pPr algn="ctr">
        <a:spcBef>
          <a:spcPts val="0"/>
        </a:spcBef>
        <a:spcAft>
          <a:spcPts val="0"/>
        </a:spcAft>
        <a:defRPr sz="5300">
          <a:solidFill>
            <a:schemeClr val="tx1"/>
          </a:solidFill>
          <a:latin typeface="Arial"/>
        </a:defRPr>
      </a:lvl2pPr>
      <a:lvl3pPr algn="ctr">
        <a:spcBef>
          <a:spcPts val="0"/>
        </a:spcBef>
        <a:spcAft>
          <a:spcPts val="0"/>
        </a:spcAft>
        <a:defRPr sz="5300">
          <a:solidFill>
            <a:schemeClr val="tx1"/>
          </a:solidFill>
          <a:latin typeface="Arial"/>
        </a:defRPr>
      </a:lvl3pPr>
      <a:lvl4pPr algn="ctr">
        <a:spcBef>
          <a:spcPts val="0"/>
        </a:spcBef>
        <a:spcAft>
          <a:spcPts val="0"/>
        </a:spcAft>
        <a:defRPr sz="5300">
          <a:solidFill>
            <a:schemeClr val="tx1"/>
          </a:solidFill>
          <a:latin typeface="Arial"/>
        </a:defRPr>
      </a:lvl4pPr>
      <a:lvl5pPr algn="ctr">
        <a:spcBef>
          <a:spcPts val="0"/>
        </a:spcBef>
        <a:spcAft>
          <a:spcPts val="0"/>
        </a:spcAft>
        <a:defRPr sz="5300">
          <a:solidFill>
            <a:schemeClr val="tx1"/>
          </a:solidFill>
          <a:latin typeface="Arial"/>
        </a:defRPr>
      </a:lvl5pPr>
      <a:lvl6pPr marL="548640" algn="ctr">
        <a:spcBef>
          <a:spcPts val="0"/>
        </a:spcBef>
        <a:spcAft>
          <a:spcPts val="0"/>
        </a:spcAft>
        <a:defRPr sz="5300">
          <a:solidFill>
            <a:schemeClr val="tx1"/>
          </a:solidFill>
          <a:latin typeface="Calibri"/>
        </a:defRPr>
      </a:lvl6pPr>
      <a:lvl7pPr marL="1097280" algn="ctr">
        <a:spcBef>
          <a:spcPts val="0"/>
        </a:spcBef>
        <a:spcAft>
          <a:spcPts val="0"/>
        </a:spcAft>
        <a:defRPr sz="5300">
          <a:solidFill>
            <a:schemeClr val="tx1"/>
          </a:solidFill>
          <a:latin typeface="Calibri"/>
        </a:defRPr>
      </a:lvl7pPr>
      <a:lvl8pPr marL="1645920" algn="ctr">
        <a:spcBef>
          <a:spcPts val="0"/>
        </a:spcBef>
        <a:spcAft>
          <a:spcPts val="0"/>
        </a:spcAft>
        <a:defRPr sz="5300">
          <a:solidFill>
            <a:schemeClr val="tx1"/>
          </a:solidFill>
          <a:latin typeface="Calibri"/>
        </a:defRPr>
      </a:lvl8pPr>
      <a:lvl9pPr marL="2194560" algn="ctr">
        <a:spcBef>
          <a:spcPts val="0"/>
        </a:spcBef>
        <a:spcAft>
          <a:spcPts val="0"/>
        </a:spcAft>
        <a:defRPr sz="5300">
          <a:solidFill>
            <a:schemeClr val="tx1"/>
          </a:solidFill>
          <a:latin typeface="Calibri"/>
        </a:defRPr>
      </a:lvl9pPr>
    </p:titleStyle>
    <p:bodyStyle>
      <a:lvl1pPr marL="411480" indent="-411480" algn="l">
        <a:spcBef>
          <a:spcPts val="0"/>
        </a:spcBef>
        <a:spcAft>
          <a:spcPts val="0"/>
        </a:spcAft>
        <a:buFont typeface="Arial"/>
        <a:buChar char="•"/>
        <a:defRPr sz="3850">
          <a:solidFill>
            <a:schemeClr val="tx1"/>
          </a:solidFill>
          <a:latin typeface="Arial"/>
          <a:ea typeface="+mn-ea"/>
          <a:cs typeface="+mn-cs"/>
        </a:defRPr>
      </a:lvl1pPr>
      <a:lvl2pPr marL="891540" indent="-342900" algn="l">
        <a:spcBef>
          <a:spcPts val="0"/>
        </a:spcBef>
        <a:spcAft>
          <a:spcPts val="0"/>
        </a:spcAft>
        <a:buFont typeface="Arial"/>
        <a:buChar char="–"/>
        <a:defRPr sz="3350">
          <a:solidFill>
            <a:schemeClr val="tx1"/>
          </a:solidFill>
          <a:latin typeface="Arial"/>
          <a:ea typeface="+mn-ea"/>
          <a:cs typeface="+mn-cs"/>
        </a:defRPr>
      </a:lvl2pPr>
      <a:lvl3pPr marL="1371600" indent="-274320" algn="l">
        <a:spcBef>
          <a:spcPts val="0"/>
        </a:spcBef>
        <a:spcAft>
          <a:spcPts val="0"/>
        </a:spcAft>
        <a:buFont typeface="Arial"/>
        <a:buChar char="•"/>
        <a:defRPr sz="2900">
          <a:solidFill>
            <a:schemeClr val="tx1"/>
          </a:solidFill>
          <a:latin typeface="Arial"/>
          <a:ea typeface="+mn-ea"/>
          <a:cs typeface="+mn-cs"/>
        </a:defRPr>
      </a:lvl3pPr>
      <a:lvl4pPr marL="1920240" indent="-274320" algn="l">
        <a:spcBef>
          <a:spcPts val="0"/>
        </a:spcBef>
        <a:spcAft>
          <a:spcPts val="0"/>
        </a:spcAft>
        <a:buFont typeface="Arial"/>
        <a:buChar char="–"/>
        <a:defRPr sz="2400">
          <a:solidFill>
            <a:schemeClr val="tx1"/>
          </a:solidFill>
          <a:latin typeface="Arial"/>
          <a:ea typeface="+mn-ea"/>
          <a:cs typeface="+mn-cs"/>
        </a:defRPr>
      </a:lvl4pPr>
      <a:lvl5pPr marL="2468880" indent="-274320" algn="l">
        <a:spcBef>
          <a:spcPts val="0"/>
        </a:spcBef>
        <a:spcAft>
          <a:spcPts val="0"/>
        </a:spcAft>
        <a:buFont typeface="Arial"/>
        <a:buChar char="»"/>
        <a:defRPr sz="2400">
          <a:solidFill>
            <a:schemeClr val="tx1"/>
          </a:solidFill>
          <a:latin typeface="Arial"/>
          <a:ea typeface="+mn-ea"/>
          <a:cs typeface="+mn-cs"/>
        </a:defRPr>
      </a:lvl5pPr>
      <a:lvl6pPr marL="3017519" indent="-274320" algn="l" defTabSz="109728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97280">
        <a:defRPr sz="215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>
        <a:defRPr sz="215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>
        <a:defRPr sz="215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>
        <a:defRPr sz="215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>
        <a:defRPr sz="215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>
        <a:defRPr sz="215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>
        <a:defRPr sz="215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>
        <a:defRPr sz="215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>
        <a:defRPr sz="2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C937-38D6-4B8F-AEB3-E5F6C110AD7F}" type="slidenum">
              <a:rPr lang="hr-HR"/>
              <a:t>1</a:t>
            </a:fld>
            <a:endParaRPr lang="hr-HR"/>
          </a:p>
        </p:txBody>
      </p:sp>
      <p:sp>
        <p:nvSpPr>
          <p:cNvPr id="6" name="Title 1"/>
          <p:cNvSpPr txBox="1"/>
          <p:nvPr/>
        </p:nvSpPr>
        <p:spPr bwMode="auto">
          <a:xfrm>
            <a:off x="0" y="359296"/>
            <a:ext cx="14633999" cy="7894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defRPr sz="285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>
              <a:spcBef>
                <a:spcPts val="0"/>
              </a:spcBef>
              <a:spcAft>
                <a:spcPts val="0"/>
              </a:spcAft>
              <a:defRPr sz="4250" b="1">
                <a:solidFill>
                  <a:schemeClr val="tx2"/>
                </a:solidFill>
                <a:latin typeface="Tahoma"/>
              </a:defRPr>
            </a:lvl2pPr>
            <a:lvl3pPr algn="l">
              <a:spcBef>
                <a:spcPts val="0"/>
              </a:spcBef>
              <a:spcAft>
                <a:spcPts val="0"/>
              </a:spcAft>
              <a:defRPr sz="4250" b="1">
                <a:solidFill>
                  <a:schemeClr val="tx2"/>
                </a:solidFill>
                <a:latin typeface="Tahoma"/>
              </a:defRPr>
            </a:lvl3pPr>
            <a:lvl4pPr algn="l">
              <a:spcBef>
                <a:spcPts val="0"/>
              </a:spcBef>
              <a:spcAft>
                <a:spcPts val="0"/>
              </a:spcAft>
              <a:defRPr sz="4250" b="1">
                <a:solidFill>
                  <a:schemeClr val="tx2"/>
                </a:solidFill>
                <a:latin typeface="Tahoma"/>
              </a:defRPr>
            </a:lvl4pPr>
            <a:lvl5pPr algn="l">
              <a:spcBef>
                <a:spcPts val="0"/>
              </a:spcBef>
              <a:spcAft>
                <a:spcPts val="0"/>
              </a:spcAft>
              <a:defRPr sz="4250" b="1">
                <a:solidFill>
                  <a:schemeClr val="tx2"/>
                </a:solidFill>
                <a:latin typeface="Tahoma"/>
              </a:defRPr>
            </a:lvl5pPr>
            <a:lvl6pPr marL="607715" algn="l">
              <a:spcBef>
                <a:spcPts val="0"/>
              </a:spcBef>
              <a:spcAft>
                <a:spcPts val="0"/>
              </a:spcAft>
              <a:defRPr sz="4800" b="1">
                <a:solidFill>
                  <a:schemeClr val="tx2"/>
                </a:solidFill>
                <a:latin typeface="Tahoma"/>
              </a:defRPr>
            </a:lvl6pPr>
            <a:lvl7pPr marL="1215429" algn="l">
              <a:spcBef>
                <a:spcPts val="0"/>
              </a:spcBef>
              <a:spcAft>
                <a:spcPts val="0"/>
              </a:spcAft>
              <a:defRPr sz="4800" b="1">
                <a:solidFill>
                  <a:schemeClr val="tx2"/>
                </a:solidFill>
                <a:latin typeface="Tahoma"/>
              </a:defRPr>
            </a:lvl7pPr>
            <a:lvl8pPr marL="1823144" algn="l">
              <a:spcBef>
                <a:spcPts val="0"/>
              </a:spcBef>
              <a:spcAft>
                <a:spcPts val="0"/>
              </a:spcAft>
              <a:defRPr sz="4800" b="1">
                <a:solidFill>
                  <a:schemeClr val="tx2"/>
                </a:solidFill>
                <a:latin typeface="Tahoma"/>
              </a:defRPr>
            </a:lvl8pPr>
            <a:lvl9pPr marL="2430858" algn="l">
              <a:spcBef>
                <a:spcPts val="0"/>
              </a:spcBef>
              <a:spcAft>
                <a:spcPts val="0"/>
              </a:spcAft>
              <a:defRPr sz="4800" b="1">
                <a:solidFill>
                  <a:schemeClr val="tx2"/>
                </a:solidFill>
                <a:latin typeface="Tahoma"/>
              </a:defRPr>
            </a:lvl9pPr>
          </a:lstStyle>
          <a:p>
            <a:pPr>
              <a:defRPr/>
            </a:pPr>
            <a:r>
              <a:rPr lang="hr-HR" sz="3200">
                <a:solidFill>
                  <a:srgbClr val="000000"/>
                </a:solidFill>
                <a:latin typeface="Segoe UI"/>
              </a:rPr>
              <a:t>Obrambeni sustavi i tehnologije</a:t>
            </a:r>
          </a:p>
          <a:p>
            <a:pPr>
              <a:defRPr/>
            </a:pPr>
            <a:endParaRPr lang="en-GB" sz="2400" b="0">
              <a:solidFill>
                <a:srgbClr val="000000"/>
              </a:solidFill>
              <a:latin typeface="Segoe UI"/>
            </a:endParaRPr>
          </a:p>
          <a:p>
            <a:pPr>
              <a:defRPr/>
            </a:pPr>
            <a:endParaRPr lang="hr-HR" sz="2400" b="0">
              <a:solidFill>
                <a:srgbClr val="000000"/>
              </a:solidFill>
              <a:latin typeface="Segoe UI"/>
            </a:endParaRPr>
          </a:p>
          <a:p>
            <a:pPr>
              <a:defRPr/>
            </a:pPr>
            <a:r>
              <a:rPr lang="hr-HR" sz="2400" b="0">
                <a:solidFill>
                  <a:srgbClr val="000000"/>
                </a:solidFill>
                <a:latin typeface="Segoe UI"/>
                <a:cs typeface="Segoe UI"/>
              </a:rPr>
              <a:t>Seminarski rad: Tema </a:t>
            </a:r>
            <a:r>
              <a:rPr lang="hr-HR" sz="2400">
                <a:solidFill>
                  <a:srgbClr val="000000"/>
                </a:solidFill>
                <a:latin typeface="Segoe UI"/>
                <a:cs typeface="Segoe UI"/>
              </a:rPr>
              <a:t>P02</a:t>
            </a:r>
            <a:endParaRPr lang="hr-HR" sz="4000"/>
          </a:p>
          <a:p>
            <a:pPr>
              <a:defRPr/>
            </a:pPr>
            <a:r>
              <a:rPr lang="hr-HR" sz="4000">
                <a:ea typeface="+mj-lt"/>
                <a:cs typeface="+mj-lt"/>
              </a:rPr>
              <a:t>Razvoj Linear Discriminant Analysis (LDA) modela za estimaciju/predikciju performansi na simulatoru leta u startle uvjetima na temelju signala vodljivosti kože i aktivnosti srca</a:t>
            </a:r>
            <a:endParaRPr lang="hr-HR" sz="2800">
              <a:ea typeface="Tahoma"/>
              <a:cs typeface="Tahoma"/>
            </a:endParaRPr>
          </a:p>
          <a:p>
            <a:pPr>
              <a:defRPr/>
            </a:pPr>
            <a:endParaRPr lang="hr-HR" sz="4000"/>
          </a:p>
          <a:p>
            <a:pPr>
              <a:defRPr/>
            </a:pPr>
            <a:endParaRPr lang="hr-HR" sz="4000"/>
          </a:p>
          <a:p>
            <a:pPr>
              <a:defRPr/>
            </a:pPr>
            <a:r>
              <a:rPr lang="hr-HR" sz="2400" b="0" i="0" u="none" strike="noStrike" cap="none" spc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Lorena Švenjak</a:t>
            </a:r>
            <a:endParaRPr sz="2400"/>
          </a:p>
          <a:p>
            <a:pPr>
              <a:defRPr/>
            </a:pPr>
            <a:r>
              <a:rPr lang="hr-HR" sz="2400" b="0" i="0" u="none" strike="noStrike" cap="none" spc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Antonio Kutnjak</a:t>
            </a:r>
            <a:endParaRPr sz="2400"/>
          </a:p>
          <a:p>
            <a:pPr>
              <a:defRPr/>
            </a:pPr>
            <a:r>
              <a:rPr lang="hr-HR" sz="2400" b="0" i="0" u="none" strike="noStrike" cap="none" spc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Fran Krišto</a:t>
            </a:r>
            <a:endParaRPr sz="2400"/>
          </a:p>
          <a:p>
            <a:pPr algn="ctr">
              <a:defRPr/>
            </a:pPr>
            <a:endParaRPr lang="hr-HR" sz="2400" b="0">
              <a:solidFill>
                <a:srgbClr val="000000"/>
              </a:solidFill>
              <a:latin typeface="Segoe UI"/>
            </a:endParaRPr>
          </a:p>
          <a:p>
            <a:pPr algn="ctr">
              <a:defRPr/>
            </a:pPr>
            <a:endParaRPr lang="hr-HR" sz="2400" b="0">
              <a:solidFill>
                <a:srgbClr val="000000"/>
              </a:solidFill>
              <a:latin typeface="Segoe UI"/>
            </a:endParaRPr>
          </a:p>
          <a:p>
            <a:pPr algn="ctr">
              <a:defRPr/>
            </a:pPr>
            <a:endParaRPr lang="hr-HR" sz="2400" b="0">
              <a:solidFill>
                <a:srgbClr val="000000"/>
              </a:solidFill>
              <a:latin typeface="Segoe UI"/>
            </a:endParaRPr>
          </a:p>
          <a:p>
            <a:pPr algn="ctr">
              <a:defRPr/>
            </a:pPr>
            <a:r>
              <a:rPr lang="hr-HR" sz="2400" b="0">
                <a:solidFill>
                  <a:srgbClr val="000000"/>
                </a:solidFill>
                <a:latin typeface="Segoe UI"/>
              </a:rPr>
              <a:t>siječanj 2025.</a:t>
            </a:r>
            <a:endParaRPr lang="en-GB" sz="2400" b="0">
              <a:solidFill>
                <a:srgbClr val="00000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405326"/>
            <a:ext cx="14630400" cy="492443"/>
          </a:xfrm>
        </p:spPr>
        <p:txBody>
          <a:bodyPr/>
          <a:lstStyle/>
          <a:p>
            <a:pPr>
              <a:defRPr/>
            </a:pPr>
            <a:r>
              <a:rPr lang="hr-HR" sz="2600"/>
              <a:t>Sadržaj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C937-38D6-4B8F-AEB3-E5F6C110AD7F}" type="slidenum">
              <a:rPr lang="hr-HR"/>
              <a:t>2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 bwMode="auto">
          <a:xfrm>
            <a:off x="1786107" y="1874340"/>
            <a:ext cx="13988414" cy="393227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  <a:defRPr/>
            </a:pPr>
            <a:r>
              <a:rPr lang="hr-HR" sz="3600"/>
              <a:t>Cilj</a:t>
            </a:r>
            <a:endParaRPr sz="3600"/>
          </a:p>
          <a:p>
            <a:pPr marL="457200" indent="-457200">
              <a:buFont typeface="+mj-lt"/>
              <a:buAutoNum type="arabicPeriod"/>
              <a:defRPr/>
            </a:pPr>
            <a:r>
              <a:rPr lang="hr-HR" sz="3600"/>
              <a:t>Prikaz paradigme</a:t>
            </a:r>
            <a:endParaRPr sz="3600"/>
          </a:p>
          <a:p>
            <a:pPr marL="457200" indent="-457200">
              <a:buFont typeface="+mj-lt"/>
              <a:buAutoNum type="arabicPeriod"/>
              <a:defRPr/>
            </a:pPr>
            <a:r>
              <a:rPr lang="hr-HR" sz="3600"/>
              <a:t>Vizualizacija odabranih signala</a:t>
            </a:r>
            <a:endParaRPr sz="3600"/>
          </a:p>
          <a:p>
            <a:pPr marL="457200" indent="-457200">
              <a:buFont typeface="+mj-lt"/>
              <a:buAutoNum type="arabicPeriod"/>
              <a:defRPr/>
            </a:pPr>
            <a:r>
              <a:rPr lang="hr-HR" sz="3600"/>
              <a:t>Odabir i izračun značajki</a:t>
            </a:r>
            <a:endParaRPr sz="3600"/>
          </a:p>
          <a:p>
            <a:pPr marL="457200" indent="-457200">
              <a:buFont typeface="+mj-lt"/>
              <a:buAutoNum type="arabicPeriod"/>
              <a:defRPr/>
            </a:pPr>
            <a:r>
              <a:rPr lang="hr-HR" sz="3600"/>
              <a:t>Statistička i korelacijska analiza</a:t>
            </a:r>
            <a:endParaRPr sz="3600"/>
          </a:p>
          <a:p>
            <a:pPr marL="457200" indent="-457200">
              <a:buFont typeface="+mj-lt"/>
              <a:buAutoNum type="arabicPeriod"/>
              <a:defRPr/>
            </a:pPr>
            <a:r>
              <a:rPr lang="hr-HR" sz="3600"/>
              <a:t>Razvoj modela i rezultati</a:t>
            </a:r>
            <a:endParaRPr sz="3600"/>
          </a:p>
          <a:p>
            <a:pPr>
              <a:defRPr/>
            </a:pP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72047"/>
            <a:ext cx="14631838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C937-38D6-4B8F-AEB3-E5F6C110AD7F}" type="slidenum">
              <a:rPr lang="hr-HR"/>
              <a:t>3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1214" cy="64044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sz="3600" b="1"/>
              <a:t>Cilj</a:t>
            </a:r>
            <a:endParaRPr/>
          </a:p>
        </p:txBody>
      </p:sp>
      <p:sp>
        <p:nvSpPr>
          <p:cNvPr id="5" name="Content Placeholder 7"/>
          <p:cNvSpPr txBox="1"/>
          <p:nvPr/>
        </p:nvSpPr>
        <p:spPr bwMode="auto">
          <a:xfrm>
            <a:off x="333009" y="2500990"/>
            <a:ext cx="14085613" cy="502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6" indent="-455786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6" indent="-379822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7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2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6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30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4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9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spcBef>
                <a:spcPts val="1800"/>
              </a:spcBef>
              <a:defRPr/>
            </a:pPr>
            <a:r>
              <a:rPr lang="hr-HR" sz="2600" b="0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Cilj ovog seminarskog rada je na temelju fizioloških signala snimljenih tijekom simulatora estimirati i predvidjeti performanse ispitanika na simulatoru. Fokus je bio na analizi signala vodljivosti kože (EDA) i aktivnosti srca (ECG, QRS)</a:t>
            </a:r>
            <a:endParaRPr sz="2600"/>
          </a:p>
          <a:p>
            <a:pPr>
              <a:spcBef>
                <a:spcPts val="1800"/>
              </a:spcBef>
              <a:defRPr/>
            </a:pPr>
            <a:r>
              <a:rPr lang="hr-HR" sz="2600"/>
              <a:t>Koraci koji su poduzeti za ostvarenje cilja</a:t>
            </a:r>
            <a:endParaRPr sz="2600"/>
          </a:p>
          <a:p>
            <a:pPr marL="988950" lvl="1" indent="-457200">
              <a:spcBef>
                <a:spcPts val="1800"/>
              </a:spcBef>
              <a:buFont typeface="+mj-lt"/>
              <a:buAutoNum type="arabicPeriod"/>
              <a:defRPr/>
            </a:pPr>
            <a:r>
              <a:rPr lang="hr-HR" sz="2600"/>
              <a:t>Organizacija i usklađivanje podataka (EDA, ECG, TIME)</a:t>
            </a:r>
            <a:endParaRPr sz="2600"/>
          </a:p>
          <a:p>
            <a:pPr marL="988950" lvl="1" indent="-457200">
              <a:spcBef>
                <a:spcPts val="1800"/>
              </a:spcBef>
              <a:buFont typeface="+mj-lt"/>
              <a:buAutoNum type="arabicPeriod"/>
              <a:defRPr/>
            </a:pPr>
            <a:r>
              <a:rPr lang="hr-HR" sz="2600"/>
              <a:t>Obrada startle podataka</a:t>
            </a:r>
            <a:endParaRPr sz="2600"/>
          </a:p>
          <a:p>
            <a:pPr marL="988950" lvl="1" indent="-457200">
              <a:spcBef>
                <a:spcPts val="1800"/>
              </a:spcBef>
              <a:buFont typeface="+mj-lt"/>
              <a:buAutoNum type="arabicPeriod"/>
              <a:defRPr/>
            </a:pPr>
            <a:r>
              <a:rPr lang="hr-HR" sz="2600"/>
              <a:t>Razvoj modela (</a:t>
            </a:r>
            <a:r>
              <a:rPr sz="2600"/>
              <a:t>LOO, LOGO)</a:t>
            </a:r>
          </a:p>
          <a:p>
            <a:pPr marL="988950" lvl="1" indent="-457200">
              <a:spcBef>
                <a:spcPts val="1800"/>
              </a:spcBef>
              <a:buFont typeface="+mj-lt"/>
              <a:buAutoNum type="arabicPeriod"/>
              <a:defRPr/>
            </a:pPr>
            <a:r>
              <a:rPr lang="hr-HR" sz="2600"/>
              <a:t>Prikaz performansi modela</a:t>
            </a:r>
            <a:endParaRPr sz="2600"/>
          </a:p>
          <a:p>
            <a:pPr marL="0" indent="0">
              <a:spcBef>
                <a:spcPts val="1800"/>
              </a:spcBef>
              <a:buNone/>
              <a:defRPr/>
            </a:pP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71687"/>
            <a:ext cx="14631479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C937-38D6-4B8F-AEB3-E5F6C110AD7F}" type="slidenum">
              <a:rPr lang="hr-HR"/>
              <a:t>4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1214" cy="64044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sz="3600" b="1"/>
              <a:t>Prikaz laboratorijske paradigme</a:t>
            </a:r>
            <a:endParaRPr sz="3600"/>
          </a:p>
        </p:txBody>
      </p:sp>
      <p:sp>
        <p:nvSpPr>
          <p:cNvPr id="5" name="Content Placeholder 7"/>
          <p:cNvSpPr txBox="1"/>
          <p:nvPr/>
        </p:nvSpPr>
        <p:spPr bwMode="auto">
          <a:xfrm>
            <a:off x="969013" y="2827562"/>
            <a:ext cx="10077204" cy="33226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6" indent="-455786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6" indent="-379822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7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2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6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30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4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9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spcBef>
                <a:spcPts val="1800"/>
              </a:spcBef>
              <a:defRPr/>
            </a:pPr>
            <a:r>
              <a:rPr lang="hr-HR" sz="2600"/>
              <a:t>Signali odabrani iz ove paradigme uključuju sljedeće </a:t>
            </a:r>
            <a:r>
              <a:rPr lang="hr-HR" sz="2600" b="1"/>
              <a:t>fiziološke signale</a:t>
            </a:r>
            <a:r>
              <a:rPr lang="hr-HR" sz="2600"/>
              <a:t>:</a:t>
            </a:r>
            <a:endParaRPr sz="2600"/>
          </a:p>
          <a:p>
            <a:pPr>
              <a:spcBef>
                <a:spcPts val="1799"/>
              </a:spcBef>
              <a:defRPr/>
            </a:pPr>
            <a:endParaRPr sz="2600"/>
          </a:p>
          <a:p>
            <a:pPr lvl="1">
              <a:spcBef>
                <a:spcPts val="1799"/>
              </a:spcBef>
              <a:defRPr/>
            </a:pPr>
            <a:r>
              <a:rPr sz="2400"/>
              <a:t>vodljivost kože (EDA)</a:t>
            </a:r>
          </a:p>
          <a:p>
            <a:pPr lvl="1">
              <a:spcBef>
                <a:spcPts val="1799"/>
              </a:spcBef>
              <a:defRPr/>
            </a:pPr>
            <a:r>
              <a:rPr sz="2400"/>
              <a:t>aktivnost srca (ECG, QRS)</a:t>
            </a:r>
          </a:p>
          <a:p>
            <a:pPr lvl="1">
              <a:spcBef>
                <a:spcPts val="1799"/>
              </a:spcBef>
              <a:defRPr/>
            </a:pP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71687"/>
            <a:ext cx="14631479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C937-38D6-4B8F-AEB3-E5F6C110AD7F}" type="slidenum">
              <a:rPr lang="hr-HR"/>
              <a:t>5</a:t>
            </a:fld>
            <a:endParaRPr lang="hr-HR"/>
          </a:p>
        </p:txBody>
      </p:sp>
      <p:pic>
        <p:nvPicPr>
          <p:cNvPr id="899197831" name="Picture 89919783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23962" y="1434287"/>
            <a:ext cx="11811037" cy="64030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303929" name="Title 1"/>
          <p:cNvSpPr>
            <a:spLocks noGrp="1"/>
          </p:cNvSpPr>
          <p:nvPr>
            <p:ph type="title"/>
          </p:nvPr>
        </p:nvSpPr>
        <p:spPr bwMode="auto">
          <a:xfrm>
            <a:off x="0" y="71687"/>
            <a:ext cx="14631479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1779710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9B9CBA-4937-CB6D-62B3-8DF0B144CCB0}" type="slidenum">
              <a:rPr lang="hr-HR"/>
              <a:t>6</a:t>
            </a:fld>
            <a:endParaRPr lang="hr-HR"/>
          </a:p>
        </p:txBody>
      </p:sp>
      <p:pic>
        <p:nvPicPr>
          <p:cNvPr id="496882612" name="Picture 49688261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33120" y="1493836"/>
            <a:ext cx="12090753" cy="6458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660984" name="Title 1"/>
          <p:cNvSpPr>
            <a:spLocks noGrp="1"/>
          </p:cNvSpPr>
          <p:nvPr>
            <p:ph type="title"/>
          </p:nvPr>
        </p:nvSpPr>
        <p:spPr bwMode="auto">
          <a:xfrm>
            <a:off x="0" y="71687"/>
            <a:ext cx="14631479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738686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01DFD-E7BE-4278-3BA0-1DCB808EFF99}" type="slidenum">
              <a:rPr lang="hr-HR"/>
              <a:t>7</a:t>
            </a:fld>
            <a:endParaRPr lang="hr-HR"/>
          </a:p>
        </p:txBody>
      </p:sp>
      <p:pic>
        <p:nvPicPr>
          <p:cNvPr id="952053126" name="Picture 95205312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08086" y="1604962"/>
            <a:ext cx="11652287" cy="63169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727330" name="Title 1"/>
          <p:cNvSpPr>
            <a:spLocks noGrp="1"/>
          </p:cNvSpPr>
          <p:nvPr>
            <p:ph type="title"/>
          </p:nvPr>
        </p:nvSpPr>
        <p:spPr bwMode="auto">
          <a:xfrm>
            <a:off x="0" y="71687"/>
            <a:ext cx="14631479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662693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80EF93-07C9-9069-0AFD-70FCB4D348F1}" type="slidenum">
              <a:rPr lang="hr-HR"/>
              <a:t>8</a:t>
            </a:fld>
            <a:endParaRPr lang="hr-HR"/>
          </a:p>
        </p:txBody>
      </p:sp>
      <p:pic>
        <p:nvPicPr>
          <p:cNvPr id="2136768039" name="Picture 213676803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77899" y="1509712"/>
            <a:ext cx="11930099" cy="63728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71687"/>
            <a:ext cx="14631479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C937-38D6-4B8F-AEB3-E5F6C110AD7F}" type="slidenum">
              <a:rPr lang="hr-HR"/>
              <a:t>9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1934" cy="38897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Odabir i izračun značajki</a:t>
            </a:r>
            <a:endParaRPr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772" y="2432750"/>
          <a:ext cx="13964382" cy="3561649"/>
        </p:xfrm>
        <a:graphic>
          <a:graphicData uri="http://schemas.openxmlformats.org/drawingml/2006/table">
            <a:tbl>
              <a:tblPr firstRow="1" bandRow="1"/>
              <a:tblGrid>
                <a:gridCol w="29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54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6507">
                <a:tc grid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hr-HR" sz="2000" b="1">
                          <a:solidFill>
                            <a:schemeClr val="bg1"/>
                          </a:solidFill>
                        </a:rPr>
                        <a:t>FIZIOLOŠKI SIGNALI</a:t>
                      </a:r>
                      <a:endParaRPr lang="en-GB" sz="20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algn="ctr">
                      <a:solidFill>
                        <a:sysClr val="window" lastClr="FFFFFF"/>
                      </a:solidFill>
                    </a:lnL>
                    <a:lnR w="12700" algn="ctr">
                      <a:solidFill>
                        <a:sysClr val="window" lastClr="FFFFFF"/>
                      </a:solidFill>
                    </a:lnR>
                    <a:lnT w="38100" algn="ctr">
                      <a:solidFill>
                        <a:sysClr val="window" lastClr="FFFFFF"/>
                      </a:solidFill>
                    </a:lnT>
                    <a:lnB w="12700" algn="ctr">
                      <a:solidFill>
                        <a:sysClr val="window" lastClr="FFFFFF"/>
                      </a:solidFill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hr-HR" sz="2000" b="1">
                          <a:solidFill>
                            <a:schemeClr val="bg1"/>
                          </a:solidFill>
                        </a:rPr>
                        <a:t>METRIKA PERFORMANSI</a:t>
                      </a:r>
                      <a:endParaRPr lang="en-GB" sz="20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algn="ctr">
                      <a:solidFill>
                        <a:sysClr val="window" lastClr="FFFFFF"/>
                      </a:solidFill>
                    </a:lnL>
                    <a:lnT w="38100" algn="ctr">
                      <a:solidFill>
                        <a:sysClr val="window" lastClr="FFFFFF"/>
                      </a:solidFill>
                    </a:lnT>
                    <a:lnB w="12700" algn="ctr">
                      <a:solidFill>
                        <a:sysClr val="window" lastClr="FFFFFF"/>
                      </a:solidFill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136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hr-HR" sz="1600" b="1"/>
                        <a:t>SRČANA AKTIVNOST (ECG)</a:t>
                      </a:r>
                      <a:endParaRPr lang="en-GB" sz="1600" b="1"/>
                    </a:p>
                  </a:txBody>
                  <a:tcPr anchor="ctr">
                    <a:lnL w="12700" algn="ctr">
                      <a:solidFill>
                        <a:sysClr val="window" lastClr="FFFFFF"/>
                      </a:solidFill>
                    </a:lnL>
                    <a:lnR w="12700" algn="ctr">
                      <a:solidFill>
                        <a:sysClr val="window" lastClr="FFFFFF"/>
                      </a:solidFill>
                    </a:lnR>
                    <a:lnT w="12700" algn="ctr">
                      <a:solidFill>
                        <a:sysClr val="window" lastClr="FFFFFF"/>
                      </a:solidFill>
                    </a:lnT>
                    <a:lnB w="12700" algn="ctr">
                      <a:solidFill>
                        <a:sysClr val="window" lastClr="FFFFFF"/>
                      </a:solidFill>
                    </a:lnB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hr-HR" sz="1600" b="1"/>
                        <a:t>ZNOJENJE (EDA)</a:t>
                      </a:r>
                      <a:endParaRPr lang="en-GB" sz="1600" b="1"/>
                    </a:p>
                  </a:txBody>
                  <a:tcPr anchor="ctr">
                    <a:lnL w="12700" algn="ctr">
                      <a:solidFill>
                        <a:sysClr val="window" lastClr="FFFFFF"/>
                      </a:solidFill>
                    </a:lnL>
                    <a:lnR w="12700" algn="ctr">
                      <a:solidFill>
                        <a:sysClr val="window" lastClr="FFFFFF"/>
                      </a:solidFill>
                    </a:lnR>
                    <a:lnT w="12700" algn="ctr">
                      <a:solidFill>
                        <a:sysClr val="window" lastClr="FFFFFF"/>
                      </a:solidFill>
                    </a:lnT>
                    <a:lnB w="12700" algn="ctr">
                      <a:solidFill>
                        <a:sysClr val="window" lastClr="FFFFFF"/>
                      </a:solidFill>
                    </a:lnB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GB" sz="1600" b="1"/>
                    </a:p>
                  </a:txBody>
                  <a:tcPr anchor="ctr">
                    <a:lnL w="12700" algn="ctr">
                      <a:solidFill>
                        <a:sysClr val="window" lastClr="FFFFFF"/>
                      </a:solidFill>
                    </a:lnL>
                    <a:lnR w="12700" algn="ctr">
                      <a:solidFill>
                        <a:sysClr val="window" lastClr="FFFFFF"/>
                      </a:solidFill>
                    </a:lnR>
                    <a:lnT w="12700" algn="ctr">
                      <a:solidFill>
                        <a:sysClr val="window" lastClr="FFFFFF"/>
                      </a:solidFill>
                    </a:lnT>
                    <a:lnB w="12700" algn="ctr">
                      <a:solidFill>
                        <a:sysClr val="window" lastClr="FFFFFF"/>
                      </a:solidFill>
                    </a:lnB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3774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hr-HR" sz="1600"/>
                        <a:t>IBImean, IBIstd, IBIslope, HRV(sdnn, rmssd)</a:t>
                      </a:r>
                      <a:endParaRPr lang="en-GB" sz="1600"/>
                    </a:p>
                  </a:txBody>
                  <a:tcPr>
                    <a:lnL w="12700" algn="ctr">
                      <a:solidFill>
                        <a:sysClr val="window" lastClr="FFFFFF"/>
                      </a:solidFill>
                    </a:lnL>
                    <a:lnR w="12700" algn="ctr">
                      <a:solidFill>
                        <a:sysClr val="window" lastClr="FFFFFF"/>
                      </a:solidFill>
                    </a:lnR>
                    <a:lnT w="12700" algn="ctr">
                      <a:solidFill>
                        <a:sysClr val="window" lastClr="FFFFFF"/>
                      </a:solidFill>
                    </a:lnT>
                    <a:lnB w="12700" algn="ctr">
                      <a:solidFill>
                        <a:sysClr val="window" lastClr="FFFFFF"/>
                      </a:solidFill>
                    </a:lnB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hr-HR" sz="1600"/>
                        <a:t>EDAmean, EDAstd, EDAslope, EDArange</a:t>
                      </a:r>
                      <a:endParaRPr lang="en-GB" sz="1600"/>
                    </a:p>
                  </a:txBody>
                  <a:tcPr>
                    <a:lnL w="12700" algn="ctr">
                      <a:solidFill>
                        <a:sysClr val="window" lastClr="FFFFFF"/>
                      </a:solidFill>
                    </a:lnL>
                    <a:lnR w="12700" algn="ctr">
                      <a:solidFill>
                        <a:sysClr val="window" lastClr="FFFFFF"/>
                      </a:solidFill>
                    </a:lnR>
                    <a:lnT w="12700" algn="ctr">
                      <a:solidFill>
                        <a:sysClr val="window" lastClr="FFFFFF"/>
                      </a:solidFill>
                    </a:lnT>
                    <a:lnB w="12700" algn="ctr">
                      <a:solidFill>
                        <a:sysClr val="window" lastClr="FFFFFF"/>
                      </a:solidFill>
                    </a:lnB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hr-HR" sz="1600"/>
                        <a:t>Apsolutna pogreška između dinamičkog referentnog ulaznog nagiba i stvarnog nagiba konstrukcije zrakoplova koja proizlazi iz rukovanja pilota. </a:t>
                      </a:r>
                      <a:endParaRPr lang="en-GB" sz="1600"/>
                    </a:p>
                  </a:txBody>
                  <a:tcPr>
                    <a:lnL w="12700" algn="ctr">
                      <a:solidFill>
                        <a:sysClr val="window" lastClr="FFFFFF"/>
                      </a:solidFill>
                    </a:lnL>
                    <a:lnR w="12700" algn="ctr">
                      <a:solidFill>
                        <a:sysClr val="window" lastClr="FFFFFF"/>
                      </a:solidFill>
                    </a:lnR>
                    <a:lnT w="12700" algn="ctr">
                      <a:solidFill>
                        <a:sysClr val="window" lastClr="FFFFFF"/>
                      </a:solidFill>
                    </a:lnT>
                    <a:lnB w="12700" algn="ctr">
                      <a:solidFill>
                        <a:sysClr val="window" lastClr="FFFFFF"/>
                      </a:solidFill>
                    </a:lnB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942015" name="Title 1"/>
          <p:cNvSpPr>
            <a:spLocks noGrp="1"/>
          </p:cNvSpPr>
          <p:nvPr>
            <p:ph type="title"/>
          </p:nvPr>
        </p:nvSpPr>
        <p:spPr bwMode="auto">
          <a:xfrm>
            <a:off x="0" y="71686"/>
            <a:ext cx="14631478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20968139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6556B-52B5-6BD6-A586-3169CBE59F28}" type="slidenum">
              <a:rPr lang="hr-HR"/>
              <a:t>10</a:t>
            </a:fld>
            <a:endParaRPr lang="hr-HR"/>
          </a:p>
        </p:txBody>
      </p:sp>
      <p:sp>
        <p:nvSpPr>
          <p:cNvPr id="377134142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0"/>
            <a:ext cx="13980854" cy="39459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Odabir i izračun značajki</a:t>
            </a:r>
            <a:endParaRPr/>
          </a:p>
        </p:txBody>
      </p:sp>
      <p:sp>
        <p:nvSpPr>
          <p:cNvPr id="2133631143" name="Content Placeholder 7"/>
          <p:cNvSpPr txBox="1"/>
          <p:nvPr/>
        </p:nvSpPr>
        <p:spPr bwMode="auto">
          <a:xfrm>
            <a:off x="12208264" y="1853809"/>
            <a:ext cx="2423213" cy="3043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5" indent="-455785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5" indent="-379821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6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1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5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2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2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spcBef>
                <a:spcPts val="1799"/>
              </a:spcBef>
              <a:defRPr/>
            </a:pPr>
            <a:r>
              <a:rPr lang="hr-HR"/>
              <a:t>Prikaz promjene određenih značajki kroz faze paradigme</a:t>
            </a:r>
            <a:endParaRPr lang="en-GB"/>
          </a:p>
          <a:p>
            <a:pPr>
              <a:spcBef>
                <a:spcPts val="1799"/>
              </a:spcBef>
              <a:defRPr/>
            </a:pPr>
            <a:r>
              <a:rPr lang="en-GB"/>
              <a:t>Svake tri spojene to</a:t>
            </a:r>
            <a:r>
              <a:rPr lang="hr-HR"/>
              <a:t>čke predstavljaju jednog ispitanika</a:t>
            </a:r>
            <a:endParaRPr/>
          </a:p>
        </p:txBody>
      </p:sp>
      <p:pic>
        <p:nvPicPr>
          <p:cNvPr id="1440941352" name="Picture 144094135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3305" y="2552698"/>
            <a:ext cx="12159693" cy="40214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826622" name="Title 1"/>
          <p:cNvSpPr>
            <a:spLocks noGrp="1"/>
          </p:cNvSpPr>
          <p:nvPr>
            <p:ph type="title"/>
          </p:nvPr>
        </p:nvSpPr>
        <p:spPr bwMode="auto">
          <a:xfrm>
            <a:off x="0" y="71686"/>
            <a:ext cx="14631478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8248795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23C1C4-EDED-635E-7366-36252AA82CD1}" type="slidenum">
              <a:rPr lang="hr-HR"/>
              <a:t>11</a:t>
            </a:fld>
            <a:endParaRPr lang="hr-HR"/>
          </a:p>
        </p:txBody>
      </p:sp>
      <p:sp>
        <p:nvSpPr>
          <p:cNvPr id="1861709051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0"/>
            <a:ext cx="13980854" cy="39459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Odabir i izračun značajki</a:t>
            </a:r>
            <a:endParaRPr/>
          </a:p>
        </p:txBody>
      </p:sp>
      <p:sp>
        <p:nvSpPr>
          <p:cNvPr id="518391109" name="Content Placeholder 7"/>
          <p:cNvSpPr txBox="1"/>
          <p:nvPr/>
        </p:nvSpPr>
        <p:spPr bwMode="auto">
          <a:xfrm>
            <a:off x="12208264" y="1853809"/>
            <a:ext cx="2423213" cy="3043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5" indent="-455785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5" indent="-379821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6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1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5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2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2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spcBef>
                <a:spcPts val="1799"/>
              </a:spcBef>
              <a:defRPr/>
            </a:pPr>
            <a:r>
              <a:rPr lang="hr-HR"/>
              <a:t>Prikaz promjene određenih značajki kroz faze paradigme</a:t>
            </a:r>
            <a:endParaRPr lang="en-GB"/>
          </a:p>
          <a:p>
            <a:pPr>
              <a:spcBef>
                <a:spcPts val="1799"/>
              </a:spcBef>
              <a:defRPr/>
            </a:pPr>
            <a:r>
              <a:rPr lang="en-GB"/>
              <a:t>Svake tri spojene to</a:t>
            </a:r>
            <a:r>
              <a:rPr lang="hr-HR"/>
              <a:t>čke predstavljaju jednog ispitanika</a:t>
            </a:r>
            <a:endParaRPr/>
          </a:p>
        </p:txBody>
      </p:sp>
      <p:pic>
        <p:nvPicPr>
          <p:cNvPr id="1041950044" name="Picture 104195004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9535" y="2620944"/>
            <a:ext cx="12091677" cy="3998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698383" name="Title 1"/>
          <p:cNvSpPr>
            <a:spLocks noGrp="1"/>
          </p:cNvSpPr>
          <p:nvPr>
            <p:ph type="title"/>
          </p:nvPr>
        </p:nvSpPr>
        <p:spPr bwMode="auto">
          <a:xfrm>
            <a:off x="0" y="71686"/>
            <a:ext cx="14631478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942520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C865E9-D482-3EFB-5ED9-145F91D99D2D}" type="slidenum">
              <a:rPr lang="hr-HR"/>
              <a:t>12</a:t>
            </a:fld>
            <a:endParaRPr lang="hr-HR"/>
          </a:p>
        </p:txBody>
      </p:sp>
      <p:sp>
        <p:nvSpPr>
          <p:cNvPr id="322769286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0"/>
            <a:ext cx="13980854" cy="39459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Odabir i izračun značajki</a:t>
            </a:r>
            <a:endParaRPr/>
          </a:p>
        </p:txBody>
      </p:sp>
      <p:sp>
        <p:nvSpPr>
          <p:cNvPr id="870709101" name="Content Placeholder 7"/>
          <p:cNvSpPr txBox="1"/>
          <p:nvPr/>
        </p:nvSpPr>
        <p:spPr bwMode="auto">
          <a:xfrm>
            <a:off x="12208264" y="1853809"/>
            <a:ext cx="2423213" cy="3043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5" indent="-455785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5" indent="-379821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6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1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5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2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2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spcBef>
                <a:spcPts val="1799"/>
              </a:spcBef>
              <a:defRPr/>
            </a:pPr>
            <a:r>
              <a:rPr lang="hr-HR"/>
              <a:t>Prikaz promjene određenih značajki kroz faze paradigme</a:t>
            </a:r>
            <a:endParaRPr lang="en-GB"/>
          </a:p>
          <a:p>
            <a:pPr>
              <a:spcBef>
                <a:spcPts val="1799"/>
              </a:spcBef>
              <a:defRPr/>
            </a:pPr>
            <a:r>
              <a:rPr lang="en-GB"/>
              <a:t>Svake tri spojene to</a:t>
            </a:r>
            <a:r>
              <a:rPr lang="hr-HR"/>
              <a:t>čke predstavljaju jednog ispitanika</a:t>
            </a:r>
            <a:endParaRPr/>
          </a:p>
        </p:txBody>
      </p:sp>
      <p:pic>
        <p:nvPicPr>
          <p:cNvPr id="1269465138" name="Picture 126946513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0498" y="2584534"/>
            <a:ext cx="11955499" cy="39538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0025707" name="Title 1"/>
          <p:cNvSpPr>
            <a:spLocks noGrp="1"/>
          </p:cNvSpPr>
          <p:nvPr>
            <p:ph type="title"/>
          </p:nvPr>
        </p:nvSpPr>
        <p:spPr bwMode="auto">
          <a:xfrm>
            <a:off x="0" y="71686"/>
            <a:ext cx="14631478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1740447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C7E26C-7056-C720-8050-8D861FE92D32}" type="slidenum">
              <a:rPr lang="hr-HR"/>
              <a:t>13</a:t>
            </a:fld>
            <a:endParaRPr lang="hr-HR"/>
          </a:p>
        </p:txBody>
      </p:sp>
      <p:sp>
        <p:nvSpPr>
          <p:cNvPr id="1709007495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0"/>
            <a:ext cx="13980854" cy="39459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Odabir i izračun značajki</a:t>
            </a:r>
            <a:endParaRPr/>
          </a:p>
        </p:txBody>
      </p:sp>
      <p:sp>
        <p:nvSpPr>
          <p:cNvPr id="607575396" name="Content Placeholder 7"/>
          <p:cNvSpPr txBox="1"/>
          <p:nvPr/>
        </p:nvSpPr>
        <p:spPr bwMode="auto">
          <a:xfrm>
            <a:off x="12208264" y="1853809"/>
            <a:ext cx="2423213" cy="3043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5" indent="-455785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5" indent="-379821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6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1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5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2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2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spcBef>
                <a:spcPts val="1799"/>
              </a:spcBef>
              <a:defRPr/>
            </a:pPr>
            <a:r>
              <a:rPr lang="hr-HR"/>
              <a:t>Prikaz promjene određenih značajki kroz faze paradigme</a:t>
            </a:r>
            <a:endParaRPr lang="en-GB"/>
          </a:p>
          <a:p>
            <a:pPr>
              <a:spcBef>
                <a:spcPts val="1799"/>
              </a:spcBef>
              <a:defRPr/>
            </a:pPr>
            <a:r>
              <a:rPr lang="en-GB"/>
              <a:t>Svake tri spojene to</a:t>
            </a:r>
            <a:r>
              <a:rPr lang="hr-HR"/>
              <a:t>čke predstavljaju jednog ispitanika</a:t>
            </a:r>
            <a:endParaRPr/>
          </a:p>
        </p:txBody>
      </p:sp>
      <p:pic>
        <p:nvPicPr>
          <p:cNvPr id="1472400854" name="Picture 147240085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6534" y="2409909"/>
            <a:ext cx="11961763" cy="39559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71687"/>
            <a:ext cx="14631479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C937-38D6-4B8F-AEB3-E5F6C110AD7F}" type="slidenum">
              <a:rPr lang="hr-HR"/>
              <a:t>14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 bwMode="auto">
          <a:xfrm>
            <a:off x="316536" y="1694641"/>
            <a:ext cx="13980855" cy="39459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Odabir i izračun značajki</a:t>
            </a:r>
            <a:endParaRPr/>
          </a:p>
        </p:txBody>
      </p:sp>
      <p:sp>
        <p:nvSpPr>
          <p:cNvPr id="9" name="Content Placeholder 7"/>
          <p:cNvSpPr txBox="1"/>
          <p:nvPr/>
        </p:nvSpPr>
        <p:spPr bwMode="auto">
          <a:xfrm>
            <a:off x="344898" y="2272499"/>
            <a:ext cx="13980855" cy="394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6" indent="-455786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6" indent="-379822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7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2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6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30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4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9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spcBef>
                <a:spcPts val="1800"/>
              </a:spcBef>
              <a:defRPr/>
            </a:pPr>
            <a:r>
              <a:rPr lang="hr-HR"/>
              <a:t>Prikaz promjene određenih značajki kroz različite faze paradigme</a:t>
            </a:r>
            <a:endParaRPr lang="hr-HR" b="1"/>
          </a:p>
        </p:txBody>
      </p:sp>
      <p:pic>
        <p:nvPicPr>
          <p:cNvPr id="1216459933" name="Picture 121645993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0969" y="3280848"/>
            <a:ext cx="6290516" cy="4085135"/>
          </a:xfrm>
          <a:prstGeom prst="rect">
            <a:avLst/>
          </a:prstGeom>
        </p:spPr>
      </p:pic>
      <p:pic>
        <p:nvPicPr>
          <p:cNvPr id="1473520766" name="Picture 1473520765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979783" y="3132363"/>
            <a:ext cx="6819251" cy="43821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16860" name="Title 1"/>
          <p:cNvSpPr>
            <a:spLocks noGrp="1"/>
          </p:cNvSpPr>
          <p:nvPr>
            <p:ph type="title"/>
          </p:nvPr>
        </p:nvSpPr>
        <p:spPr bwMode="auto">
          <a:xfrm>
            <a:off x="0" y="71687"/>
            <a:ext cx="14631479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863029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AC58F5-1330-5224-A46D-959BD8077F07}" type="slidenum">
              <a:rPr lang="hr-HR"/>
              <a:t>15</a:t>
            </a:fld>
            <a:endParaRPr lang="hr-HR"/>
          </a:p>
        </p:txBody>
      </p:sp>
      <p:sp>
        <p:nvSpPr>
          <p:cNvPr id="550264200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0854" cy="39459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Odabir i izračun značajki</a:t>
            </a:r>
            <a:endParaRPr/>
          </a:p>
        </p:txBody>
      </p:sp>
      <p:sp>
        <p:nvSpPr>
          <p:cNvPr id="2049702295" name="Content Placeholder 7"/>
          <p:cNvSpPr txBox="1"/>
          <p:nvPr/>
        </p:nvSpPr>
        <p:spPr bwMode="auto">
          <a:xfrm>
            <a:off x="344898" y="2272498"/>
            <a:ext cx="13980854" cy="394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5" indent="-455785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5" indent="-379821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6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1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5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2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2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spcBef>
                <a:spcPts val="1799"/>
              </a:spcBef>
              <a:defRPr/>
            </a:pPr>
            <a:r>
              <a:rPr lang="hr-HR"/>
              <a:t>Prikaz promjene određenih značajki kroz različite faze paradigme</a:t>
            </a:r>
            <a:endParaRPr lang="hr-HR" b="1"/>
          </a:p>
        </p:txBody>
      </p:sp>
      <p:pic>
        <p:nvPicPr>
          <p:cNvPr id="2039239718" name="Picture 203923971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11640" y="3150153"/>
            <a:ext cx="6302180" cy="3957683"/>
          </a:xfrm>
          <a:prstGeom prst="rect">
            <a:avLst/>
          </a:prstGeom>
        </p:spPr>
      </p:pic>
      <p:pic>
        <p:nvPicPr>
          <p:cNvPr id="2104921987" name="Picture 210492198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401605" y="3140003"/>
            <a:ext cx="6383823" cy="410229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815591" name="Title 1"/>
          <p:cNvSpPr>
            <a:spLocks noGrp="1"/>
          </p:cNvSpPr>
          <p:nvPr>
            <p:ph type="title"/>
          </p:nvPr>
        </p:nvSpPr>
        <p:spPr bwMode="auto">
          <a:xfrm>
            <a:off x="0" y="71687"/>
            <a:ext cx="14631479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601437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DF5CB9-D07B-5104-FA51-89B87EA45EF1}" type="slidenum">
              <a:rPr lang="hr-HR"/>
              <a:t>16</a:t>
            </a:fld>
            <a:endParaRPr lang="hr-HR"/>
          </a:p>
        </p:txBody>
      </p:sp>
      <p:sp>
        <p:nvSpPr>
          <p:cNvPr id="620076039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0854" cy="39459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Odabir i izračun značajki</a:t>
            </a:r>
            <a:endParaRPr/>
          </a:p>
        </p:txBody>
      </p:sp>
      <p:sp>
        <p:nvSpPr>
          <p:cNvPr id="791856346" name="Content Placeholder 7"/>
          <p:cNvSpPr txBox="1"/>
          <p:nvPr/>
        </p:nvSpPr>
        <p:spPr bwMode="auto">
          <a:xfrm>
            <a:off x="344898" y="2272498"/>
            <a:ext cx="13980854" cy="394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5" indent="-455785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5" indent="-379821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6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1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5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2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2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spcBef>
                <a:spcPts val="1799"/>
              </a:spcBef>
              <a:defRPr/>
            </a:pPr>
            <a:r>
              <a:rPr lang="hr-HR"/>
              <a:t>Prikaz promjene određenih značajki kroz različite faze paradigme</a:t>
            </a:r>
            <a:endParaRPr lang="hr-HR" b="1"/>
          </a:p>
        </p:txBody>
      </p:sp>
      <p:pic>
        <p:nvPicPr>
          <p:cNvPr id="677749830" name="Picture 67774982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79359" y="3145971"/>
            <a:ext cx="6533818" cy="4198682"/>
          </a:xfrm>
          <a:prstGeom prst="rect">
            <a:avLst/>
          </a:prstGeom>
        </p:spPr>
      </p:pic>
      <p:pic>
        <p:nvPicPr>
          <p:cNvPr id="691397663" name="Picture 69139766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260090" y="3145971"/>
            <a:ext cx="6566158" cy="41999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44004" name="Title 1"/>
          <p:cNvSpPr>
            <a:spLocks noGrp="1"/>
          </p:cNvSpPr>
          <p:nvPr>
            <p:ph type="title"/>
          </p:nvPr>
        </p:nvSpPr>
        <p:spPr bwMode="auto">
          <a:xfrm>
            <a:off x="0" y="71687"/>
            <a:ext cx="14631479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226684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2A4A2-2F73-86A8-3EBA-F80E4837896E}" type="slidenum">
              <a:rPr lang="hr-HR"/>
              <a:t>17</a:t>
            </a:fld>
            <a:endParaRPr lang="hr-HR"/>
          </a:p>
        </p:txBody>
      </p:sp>
      <p:sp>
        <p:nvSpPr>
          <p:cNvPr id="314566583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0854" cy="39459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Odabir i izračun značajki</a:t>
            </a:r>
            <a:endParaRPr/>
          </a:p>
        </p:txBody>
      </p:sp>
      <p:sp>
        <p:nvSpPr>
          <p:cNvPr id="1364508538" name="Content Placeholder 7"/>
          <p:cNvSpPr txBox="1"/>
          <p:nvPr/>
        </p:nvSpPr>
        <p:spPr bwMode="auto">
          <a:xfrm>
            <a:off x="344898" y="2272498"/>
            <a:ext cx="13980854" cy="394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5" indent="-455785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5" indent="-379821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6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1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5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2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2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spcBef>
                <a:spcPts val="1799"/>
              </a:spcBef>
              <a:defRPr/>
            </a:pPr>
            <a:r>
              <a:rPr lang="hr-HR"/>
              <a:t>Prikaz promjene određenih značajki kroz različite faze paradigme</a:t>
            </a:r>
            <a:endParaRPr lang="hr-HR" b="1"/>
          </a:p>
        </p:txBody>
      </p:sp>
      <p:pic>
        <p:nvPicPr>
          <p:cNvPr id="596352952" name="Picture 59635295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9381" y="2980058"/>
            <a:ext cx="6496081" cy="4198872"/>
          </a:xfrm>
          <a:prstGeom prst="rect">
            <a:avLst/>
          </a:prstGeom>
        </p:spPr>
      </p:pic>
      <p:pic>
        <p:nvPicPr>
          <p:cNvPr id="2116062768" name="Picture 211606276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413325" y="2945697"/>
            <a:ext cx="6572248" cy="42332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442892" name="Title 1"/>
          <p:cNvSpPr>
            <a:spLocks noGrp="1"/>
          </p:cNvSpPr>
          <p:nvPr>
            <p:ph type="title"/>
          </p:nvPr>
        </p:nvSpPr>
        <p:spPr bwMode="auto">
          <a:xfrm>
            <a:off x="0" y="71687"/>
            <a:ext cx="14631479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1827996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97BD51-6741-A1BE-024C-1DF55650CD02}" type="slidenum">
              <a:rPr lang="hr-HR"/>
              <a:t>18</a:t>
            </a:fld>
            <a:endParaRPr lang="hr-HR"/>
          </a:p>
        </p:txBody>
      </p:sp>
      <p:sp>
        <p:nvSpPr>
          <p:cNvPr id="845274206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0854" cy="39459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Odabir i izračun značajki</a:t>
            </a:r>
            <a:endParaRPr/>
          </a:p>
        </p:txBody>
      </p:sp>
      <p:sp>
        <p:nvSpPr>
          <p:cNvPr id="516295529" name="Content Placeholder 7"/>
          <p:cNvSpPr txBox="1"/>
          <p:nvPr/>
        </p:nvSpPr>
        <p:spPr bwMode="auto">
          <a:xfrm>
            <a:off x="344898" y="2272498"/>
            <a:ext cx="13980854" cy="394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5" indent="-455785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5" indent="-379821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6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1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5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2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2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spcBef>
                <a:spcPts val="1799"/>
              </a:spcBef>
              <a:defRPr/>
            </a:pPr>
            <a:r>
              <a:rPr lang="hr-HR"/>
              <a:t>Prikaz promjene određenih značajki kroz različite faze paradigme</a:t>
            </a:r>
            <a:endParaRPr lang="hr-HR" b="1"/>
          </a:p>
        </p:txBody>
      </p:sp>
      <p:pic>
        <p:nvPicPr>
          <p:cNvPr id="1001397879" name="Picture 100139787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09050" y="2891617"/>
            <a:ext cx="7260984" cy="464433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71687"/>
            <a:ext cx="14631479" cy="1280520"/>
          </a:xfrm>
        </p:spPr>
        <p:txBody>
          <a:bodyPr/>
          <a:lstStyle/>
          <a:p>
            <a:pPr>
              <a:defRPr/>
            </a:pPr>
            <a:r>
              <a:rPr lang="hr-HR" sz="260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Razvoj Linear Discriminant Analysis (LDA) modela za estimaciju/predikciju performansi na simulatoru leta u startle uvjetima na temelju signala vodljivosti kože i aktivnosti srca</a:t>
            </a:r>
            <a:endParaRPr sz="2600">
              <a:ea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C937-38D6-4B8F-AEB3-E5F6C110AD7F}" type="slidenum">
              <a:rPr lang="hr-HR"/>
              <a:t>19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 bwMode="auto">
          <a:xfrm>
            <a:off x="239749" y="1712250"/>
            <a:ext cx="2647077" cy="15777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Statistička i korelacijska analiza </a:t>
            </a:r>
            <a:r>
              <a:rPr lang="hr-HR" b="1" u="sng"/>
              <a:t>značajki s performansama na simulatoru</a:t>
            </a:r>
            <a:endParaRPr/>
          </a:p>
        </p:txBody>
      </p:sp>
      <p:pic>
        <p:nvPicPr>
          <p:cNvPr id="1069733370" name="Picture 106973336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314081" y="1357523"/>
            <a:ext cx="7851758" cy="696195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58466"/>
            <a:ext cx="14630400" cy="1292662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C937-38D6-4B8F-AEB3-E5F6C110AD7F}" type="slidenum">
              <a:rPr lang="hr-HR"/>
              <a:t>20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 bwMode="auto">
          <a:xfrm>
            <a:off x="316536" y="1694641"/>
            <a:ext cx="13980855" cy="394595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Statistička i korelacijska analiza </a:t>
            </a:r>
            <a:r>
              <a:rPr lang="hr-HR" b="1" u="sng"/>
              <a:t>značajki s performansama na simulatoru</a:t>
            </a:r>
            <a:endParaRPr/>
          </a:p>
        </p:txBody>
      </p:sp>
      <p:pic>
        <p:nvPicPr>
          <p:cNvPr id="907697267" name="Picture 90769726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349" y="2169922"/>
            <a:ext cx="7173613" cy="5371106"/>
          </a:xfrm>
          <a:prstGeom prst="rect">
            <a:avLst/>
          </a:prstGeom>
        </p:spPr>
      </p:pic>
      <p:pic>
        <p:nvPicPr>
          <p:cNvPr id="517638470" name="Picture 51763846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152210" y="2204755"/>
            <a:ext cx="7145179" cy="53362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550742" name="Title 1"/>
          <p:cNvSpPr>
            <a:spLocks noGrp="1"/>
          </p:cNvSpPr>
          <p:nvPr>
            <p:ph type="title"/>
          </p:nvPr>
        </p:nvSpPr>
        <p:spPr bwMode="auto">
          <a:xfrm>
            <a:off x="0" y="58465"/>
            <a:ext cx="14630400" cy="1292661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246419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2B6686-7CDF-D6D0-A092-834325C26745}" type="slidenum">
              <a:rPr lang="hr-HR"/>
              <a:t>21</a:t>
            </a:fld>
            <a:endParaRPr lang="hr-HR"/>
          </a:p>
        </p:txBody>
      </p:sp>
      <p:sp>
        <p:nvSpPr>
          <p:cNvPr id="365466405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0854" cy="39459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Statistička i korelacijska analiza </a:t>
            </a:r>
            <a:r>
              <a:rPr lang="hr-HR" b="1" u="sng"/>
              <a:t>značajki s performansama na simulatoru</a:t>
            </a:r>
            <a:endParaRPr/>
          </a:p>
        </p:txBody>
      </p:sp>
      <p:pic>
        <p:nvPicPr>
          <p:cNvPr id="104955841" name="Picture 10495584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7474" y="2265172"/>
            <a:ext cx="7123149" cy="5333322"/>
          </a:xfrm>
          <a:prstGeom prst="rect">
            <a:avLst/>
          </a:prstGeom>
        </p:spPr>
      </p:pic>
      <p:pic>
        <p:nvPicPr>
          <p:cNvPr id="1783985378" name="Picture 178398537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179963" y="2265172"/>
            <a:ext cx="7141227" cy="533332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133740" name="Title 1"/>
          <p:cNvSpPr>
            <a:spLocks noGrp="1"/>
          </p:cNvSpPr>
          <p:nvPr>
            <p:ph type="title"/>
          </p:nvPr>
        </p:nvSpPr>
        <p:spPr bwMode="auto">
          <a:xfrm>
            <a:off x="0" y="58465"/>
            <a:ext cx="14630400" cy="1292661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1091206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401E78-D91E-2B66-9B06-C4433AD6E42C}" type="slidenum">
              <a:rPr lang="hr-HR"/>
              <a:t>22</a:t>
            </a:fld>
            <a:endParaRPr lang="hr-HR"/>
          </a:p>
        </p:txBody>
      </p:sp>
      <p:sp>
        <p:nvSpPr>
          <p:cNvPr id="1444366939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0854" cy="39459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Statistička i korelacijska analiza </a:t>
            </a:r>
            <a:r>
              <a:rPr lang="hr-HR" b="1" u="sng"/>
              <a:t>značajki s performansama na simulatoru</a:t>
            </a:r>
            <a:endParaRPr/>
          </a:p>
        </p:txBody>
      </p:sp>
      <p:pic>
        <p:nvPicPr>
          <p:cNvPr id="1143933757" name="Picture 114393375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949" y="2357247"/>
            <a:ext cx="7021549" cy="5243942"/>
          </a:xfrm>
          <a:prstGeom prst="rect">
            <a:avLst/>
          </a:prstGeom>
        </p:spPr>
      </p:pic>
      <p:pic>
        <p:nvPicPr>
          <p:cNvPr id="1872543977" name="Picture 187254397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161249" y="2217547"/>
            <a:ext cx="7191374" cy="537077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496217" name="Title 1"/>
          <p:cNvSpPr>
            <a:spLocks noGrp="1"/>
          </p:cNvSpPr>
          <p:nvPr>
            <p:ph type="title"/>
          </p:nvPr>
        </p:nvSpPr>
        <p:spPr bwMode="auto">
          <a:xfrm>
            <a:off x="0" y="58465"/>
            <a:ext cx="14630400" cy="1292661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215777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5D3888-88E1-F978-C60C-2F2ACAB08783}" type="slidenum">
              <a:rPr lang="hr-HR"/>
              <a:t>23</a:t>
            </a:fld>
            <a:endParaRPr lang="hr-HR"/>
          </a:p>
        </p:txBody>
      </p:sp>
      <p:sp>
        <p:nvSpPr>
          <p:cNvPr id="1900974277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0854" cy="394594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Statistička i korelacijska analiza </a:t>
            </a:r>
            <a:r>
              <a:rPr lang="hr-HR" b="1" u="sng"/>
              <a:t>značajki s performansama na simulatoru</a:t>
            </a:r>
            <a:endParaRPr/>
          </a:p>
        </p:txBody>
      </p:sp>
      <p:pic>
        <p:nvPicPr>
          <p:cNvPr id="1446964845" name="Picture 144696484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949" y="2384424"/>
            <a:ext cx="6973924" cy="5208374"/>
          </a:xfrm>
          <a:prstGeom prst="rect">
            <a:avLst/>
          </a:prstGeom>
        </p:spPr>
      </p:pic>
      <p:pic>
        <p:nvPicPr>
          <p:cNvPr id="369994551" name="Picture 369994550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319972" y="2318316"/>
            <a:ext cx="6977417" cy="521098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58466"/>
            <a:ext cx="14630400" cy="1292662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C937-38D6-4B8F-AEB3-E5F6C110AD7F}" type="slidenum">
              <a:rPr lang="hr-HR"/>
              <a:t>24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 bwMode="auto">
          <a:xfrm>
            <a:off x="316535" y="1694640"/>
            <a:ext cx="13981934" cy="38897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Razvoj modela - prikaz naše izabrane metode (LDA)</a:t>
            </a:r>
            <a:endParaRPr lang="hr-HR" b="1" u="sng"/>
          </a:p>
        </p:txBody>
      </p:sp>
      <p:sp>
        <p:nvSpPr>
          <p:cNvPr id="5" name="Content Placeholder 7"/>
          <p:cNvSpPr txBox="1"/>
          <p:nvPr/>
        </p:nvSpPr>
        <p:spPr bwMode="auto">
          <a:xfrm>
            <a:off x="832125" y="2470236"/>
            <a:ext cx="12966508" cy="4800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6" indent="-455786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6" indent="-379822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7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2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6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30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4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9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spcBef>
                <a:spcPts val="600"/>
              </a:spcBef>
              <a:defRPr/>
            </a:pPr>
            <a:r>
              <a:rPr lang="hr-HR" sz="2400" b="0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Klasifikacija podataka</a:t>
            </a:r>
            <a:endParaRPr sz="2400"/>
          </a:p>
          <a:p>
            <a:pPr lvl="1">
              <a:spcBef>
                <a:spcPts val="599"/>
              </a:spcBef>
              <a:defRPr/>
            </a:pPr>
            <a:r>
              <a:rPr lang="hr-HR" sz="2400" b="0" i="0" u="none" strike="noStrike" cap="none" spc="0">
                <a:solidFill>
                  <a:srgbClr val="0070C0"/>
                </a:solidFill>
                <a:latin typeface="Tahoma"/>
                <a:ea typeface="Tahoma"/>
                <a:cs typeface="Tahoma"/>
              </a:rPr>
              <a:t>identificira granice između različitih klasa u podatcima</a:t>
            </a:r>
            <a:endParaRPr sz="2400"/>
          </a:p>
          <a:p>
            <a:pPr marL="607714" lvl="1" indent="0">
              <a:spcBef>
                <a:spcPts val="600"/>
              </a:spcBef>
              <a:buNone/>
              <a:defRPr/>
            </a:pPr>
            <a:endParaRPr sz="2400"/>
          </a:p>
          <a:p>
            <a:pPr>
              <a:spcBef>
                <a:spcPts val="600"/>
              </a:spcBef>
              <a:defRPr/>
            </a:pPr>
            <a:r>
              <a:rPr lang="hr-HR" sz="2400" b="0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Smanjenje dimenzionalnosti</a:t>
            </a:r>
            <a:endParaRPr sz="2400"/>
          </a:p>
          <a:p>
            <a:pPr lvl="1">
              <a:spcBef>
                <a:spcPts val="600"/>
              </a:spcBef>
              <a:defRPr/>
            </a:pPr>
            <a:r>
              <a:rPr lang="hr-HR" sz="2400" b="0" i="0" u="none" strike="noStrike" cap="none" spc="0">
                <a:solidFill>
                  <a:srgbClr val="0070C0"/>
                </a:solidFill>
                <a:latin typeface="Tahoma"/>
                <a:ea typeface="Tahoma"/>
                <a:cs typeface="Tahoma"/>
              </a:rPr>
              <a:t>projekcija podataka u nižedimenzionalni prostor, zadržavajući separaciju između klasa</a:t>
            </a:r>
            <a:endParaRPr sz="2400"/>
          </a:p>
          <a:p>
            <a:pPr>
              <a:spcBef>
                <a:spcPts val="600"/>
              </a:spcBef>
              <a:defRPr/>
            </a:pPr>
            <a:endParaRPr sz="2400"/>
          </a:p>
          <a:p>
            <a:pPr>
              <a:spcBef>
                <a:spcPts val="600"/>
              </a:spcBef>
              <a:defRPr/>
            </a:pPr>
            <a:r>
              <a:rPr lang="hr-HR" sz="2400"/>
              <a:t>Različite primjene</a:t>
            </a:r>
            <a:endParaRPr sz="2400"/>
          </a:p>
          <a:p>
            <a:pPr lvl="1">
              <a:spcBef>
                <a:spcPts val="600"/>
              </a:spcBef>
              <a:defRPr/>
            </a:pPr>
            <a:r>
              <a:rPr lang="hr-HR" sz="2400"/>
              <a:t>medicinska dijagnostika</a:t>
            </a:r>
            <a:endParaRPr sz="2400"/>
          </a:p>
          <a:p>
            <a:pPr lvl="1">
              <a:spcBef>
                <a:spcPts val="599"/>
              </a:spcBef>
              <a:defRPr/>
            </a:pPr>
            <a:r>
              <a:rPr lang="hr-HR" sz="2400"/>
              <a:t>financijska analiza</a:t>
            </a:r>
            <a:endParaRPr sz="2400"/>
          </a:p>
          <a:p>
            <a:pPr lvl="1">
              <a:spcBef>
                <a:spcPts val="599"/>
              </a:spcBef>
              <a:defRPr/>
            </a:pPr>
            <a:r>
              <a:rPr lang="hr-HR" sz="2400"/>
              <a:t>...</a:t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58466"/>
            <a:ext cx="14630400" cy="1292662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C937-38D6-4B8F-AEB3-E5F6C110AD7F}" type="slidenum">
              <a:rPr lang="hr-HR"/>
              <a:t>25</a:t>
            </a:fld>
            <a:endParaRPr lang="hr-HR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1934" cy="38897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Razvoj modela</a:t>
            </a:r>
            <a:endParaRPr lang="hr-HR" b="1" u="sng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752474" y="2901009"/>
            <a:ext cx="1971039" cy="863599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FIZIOLOŠKE ZNAČAJKE </a:t>
            </a:r>
            <a:endParaRPr/>
          </a:p>
          <a:p>
            <a:pPr algn="ctr">
              <a:defRPr/>
            </a:pPr>
            <a:r>
              <a:rPr lang="hr-HR"/>
              <a:t>startle</a:t>
            </a:r>
            <a:endParaRPr lang="en-GB"/>
          </a:p>
        </p:txBody>
      </p:sp>
      <p:sp>
        <p:nvSpPr>
          <p:cNvPr id="7" name="Rectangle 6"/>
          <p:cNvSpPr/>
          <p:nvPr/>
        </p:nvSpPr>
        <p:spPr bwMode="auto">
          <a:xfrm>
            <a:off x="752474" y="5274527"/>
            <a:ext cx="1971039" cy="863599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METRIKA PERFORMANSI</a:t>
            </a:r>
            <a:endParaRPr/>
          </a:p>
          <a:p>
            <a:pPr algn="ctr">
              <a:defRPr/>
            </a:pPr>
            <a:r>
              <a:rPr lang="hr-HR"/>
              <a:t>startle</a:t>
            </a:r>
            <a:endParaRPr lang="en-GB"/>
          </a:p>
        </p:txBody>
      </p:sp>
      <p:sp>
        <p:nvSpPr>
          <p:cNvPr id="9" name="Oval 8"/>
          <p:cNvSpPr/>
          <p:nvPr/>
        </p:nvSpPr>
        <p:spPr bwMode="auto">
          <a:xfrm>
            <a:off x="788034" y="4005708"/>
            <a:ext cx="1899920" cy="9855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MODEL</a:t>
            </a:r>
            <a:endParaRPr lang="en-GB"/>
          </a:p>
        </p:txBody>
      </p:sp>
      <p:cxnSp>
        <p:nvCxnSpPr>
          <p:cNvPr id="12" name="Straight Arrow Connector 11"/>
          <p:cNvCxnSpPr>
            <a:cxnSpLocks/>
            <a:stCxn id="6" idx="2"/>
            <a:endCxn id="9" idx="0"/>
          </p:cNvCxnSpPr>
          <p:nvPr/>
        </p:nvCxnSpPr>
        <p:spPr bwMode="auto">
          <a:xfrm>
            <a:off x="1737994" y="3764609"/>
            <a:ext cx="0" cy="241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9" idx="4"/>
            <a:endCxn id="7" idx="0"/>
          </p:cNvCxnSpPr>
          <p:nvPr/>
        </p:nvCxnSpPr>
        <p:spPr bwMode="auto">
          <a:xfrm>
            <a:off x="1737994" y="4991228"/>
            <a:ext cx="0" cy="283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778330" name="Picture 8277832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601604" y="1252755"/>
            <a:ext cx="7909395" cy="702269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7208742" name="Title 1"/>
          <p:cNvSpPr>
            <a:spLocks noGrp="1"/>
          </p:cNvSpPr>
          <p:nvPr>
            <p:ph type="title"/>
          </p:nvPr>
        </p:nvSpPr>
        <p:spPr bwMode="auto">
          <a:xfrm>
            <a:off x="0" y="58465"/>
            <a:ext cx="14630400" cy="1292661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950156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AD91CDF-C99B-8A3A-D47A-E148F2DE6AC6}" type="slidenum">
              <a:rPr lang="hr-HR"/>
              <a:t>26</a:t>
            </a:fld>
            <a:endParaRPr lang="hr-HR"/>
          </a:p>
        </p:txBody>
      </p:sp>
      <p:sp>
        <p:nvSpPr>
          <p:cNvPr id="1646855654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1934" cy="38897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Razvoj modela</a:t>
            </a:r>
            <a:endParaRPr lang="hr-HR" b="1" u="sng">
              <a:solidFill>
                <a:srgbClr val="FF0000"/>
              </a:solidFill>
            </a:endParaRPr>
          </a:p>
        </p:txBody>
      </p:sp>
      <p:sp>
        <p:nvSpPr>
          <p:cNvPr id="1039584395" name="Rectangle 5"/>
          <p:cNvSpPr/>
          <p:nvPr/>
        </p:nvSpPr>
        <p:spPr bwMode="auto">
          <a:xfrm>
            <a:off x="752474" y="2901009"/>
            <a:ext cx="1971039" cy="863599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FIZIOLOŠKE ZNAČAJKE </a:t>
            </a:r>
            <a:endParaRPr/>
          </a:p>
          <a:p>
            <a:pPr algn="ctr">
              <a:defRPr/>
            </a:pPr>
            <a:r>
              <a:rPr lang="hr-HR"/>
              <a:t>startle</a:t>
            </a:r>
            <a:endParaRPr lang="en-GB"/>
          </a:p>
        </p:txBody>
      </p:sp>
      <p:sp>
        <p:nvSpPr>
          <p:cNvPr id="1741476521" name="Rectangle 6"/>
          <p:cNvSpPr/>
          <p:nvPr/>
        </p:nvSpPr>
        <p:spPr bwMode="auto">
          <a:xfrm>
            <a:off x="752474" y="5274527"/>
            <a:ext cx="1971039" cy="863599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METRIKA PERFORMANSI</a:t>
            </a:r>
            <a:endParaRPr/>
          </a:p>
          <a:p>
            <a:pPr algn="ctr">
              <a:defRPr/>
            </a:pPr>
            <a:r>
              <a:rPr lang="hr-HR"/>
              <a:t>startle</a:t>
            </a:r>
            <a:endParaRPr lang="en-GB"/>
          </a:p>
        </p:txBody>
      </p:sp>
      <p:sp>
        <p:nvSpPr>
          <p:cNvPr id="1385538930" name="Oval 8"/>
          <p:cNvSpPr/>
          <p:nvPr/>
        </p:nvSpPr>
        <p:spPr bwMode="auto">
          <a:xfrm>
            <a:off x="788034" y="4005708"/>
            <a:ext cx="1899919" cy="98551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MODEL</a:t>
            </a:r>
            <a:endParaRPr lang="en-GB"/>
          </a:p>
        </p:txBody>
      </p:sp>
      <p:cxnSp>
        <p:nvCxnSpPr>
          <p:cNvPr id="2120371050" name="Straight Arrow Connector 11"/>
          <p:cNvCxnSpPr>
            <a:cxnSpLocks/>
            <a:stCxn id="1039584395" idx="2"/>
            <a:endCxn id="1385538930" idx="0"/>
          </p:cNvCxnSpPr>
          <p:nvPr/>
        </p:nvCxnSpPr>
        <p:spPr bwMode="auto">
          <a:xfrm>
            <a:off x="1737994" y="3764609"/>
            <a:ext cx="0" cy="241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0225063" name="Straight Arrow Connector 12"/>
          <p:cNvCxnSpPr>
            <a:cxnSpLocks/>
            <a:stCxn id="1385538930" idx="4"/>
            <a:endCxn id="1741476521" idx="0"/>
          </p:cNvCxnSpPr>
          <p:nvPr/>
        </p:nvCxnSpPr>
        <p:spPr bwMode="auto">
          <a:xfrm>
            <a:off x="1737994" y="4991228"/>
            <a:ext cx="0" cy="283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66883022" name="Content Placeholder 7"/>
          <p:cNvSpPr txBox="1"/>
          <p:nvPr/>
        </p:nvSpPr>
        <p:spPr bwMode="auto">
          <a:xfrm>
            <a:off x="4466736" y="2963493"/>
            <a:ext cx="9831733" cy="265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5" indent="-455785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5" indent="-379821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6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1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5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2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2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defRPr/>
            </a:pPr>
            <a:r>
              <a:rPr sz="2800">
                <a:solidFill>
                  <a:schemeClr val="tx1"/>
                </a:solidFill>
              </a:rPr>
              <a:t>Leave-One-Group-Out Cross-Validation</a:t>
            </a:r>
          </a:p>
          <a:p>
            <a:pPr lvl="1">
              <a:defRPr/>
            </a:pPr>
            <a:r>
              <a:rPr sz="2800">
                <a:solidFill>
                  <a:schemeClr val="tx1"/>
                </a:solidFill>
              </a:rPr>
              <a:t>prosječna točnost: 24%</a:t>
            </a:r>
          </a:p>
          <a:p>
            <a:pPr marL="607713" lvl="1" indent="0">
              <a:buNone/>
              <a:defRPr/>
            </a:pPr>
            <a:endParaRPr sz="280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Leave-One-Out Cross-Validation</a:t>
            </a:r>
            <a:endParaRPr sz="280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prosječna točnost: 27%</a:t>
            </a:r>
            <a:endParaRPr sz="2800">
              <a:solidFill>
                <a:schemeClr val="tx1"/>
              </a:solidFill>
            </a:endParaRPr>
          </a:p>
          <a:p>
            <a:pPr marL="607713" lvl="1" indent="0">
              <a:buNone/>
              <a:defRPr/>
            </a:pPr>
            <a:endParaRPr sz="2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0" y="58466"/>
            <a:ext cx="14630400" cy="1292662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2FC937-38D6-4B8F-AEB3-E5F6C110AD7F}" type="slidenum">
              <a:rPr lang="hr-HR"/>
              <a:t>27</a:t>
            </a:fld>
            <a:endParaRPr lang="hr-HR"/>
          </a:p>
        </p:txBody>
      </p:sp>
      <p:pic>
        <p:nvPicPr>
          <p:cNvPr id="926044772" name="Picture 92604477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27133" y="1351127"/>
            <a:ext cx="8502687" cy="6730781"/>
          </a:xfrm>
          <a:prstGeom prst="rect">
            <a:avLst/>
          </a:prstGeom>
        </p:spPr>
      </p:pic>
      <p:sp>
        <p:nvSpPr>
          <p:cNvPr id="700302135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0"/>
            <a:ext cx="3191971" cy="128052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sz="195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Usporedba stvarne i predviđene kategorije performanse po kandidatu</a:t>
            </a:r>
          </a:p>
        </p:txBody>
      </p:sp>
      <p:sp>
        <p:nvSpPr>
          <p:cNvPr id="803788520" name="TextBox 803788519"/>
          <p:cNvSpPr txBox="1"/>
          <p:nvPr/>
        </p:nvSpPr>
        <p:spPr bwMode="auto">
          <a:xfrm>
            <a:off x="1076356" y="3718199"/>
            <a:ext cx="730537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/>
              <a:t>47%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015434" name="Title 1"/>
          <p:cNvSpPr>
            <a:spLocks noGrp="1"/>
          </p:cNvSpPr>
          <p:nvPr>
            <p:ph type="title"/>
          </p:nvPr>
        </p:nvSpPr>
        <p:spPr bwMode="auto">
          <a:xfrm>
            <a:off x="0" y="58465"/>
            <a:ext cx="14630400" cy="1292661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663219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1FA4DE-E2E9-1016-570E-4B21744DE589}" type="slidenum">
              <a:rPr lang="hr-HR"/>
              <a:t>28</a:t>
            </a:fld>
            <a:endParaRPr lang="hr-HR"/>
          </a:p>
        </p:txBody>
      </p:sp>
      <p:sp>
        <p:nvSpPr>
          <p:cNvPr id="414431753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1934" cy="38897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Razvoj modela</a:t>
            </a:r>
            <a:endParaRPr lang="hr-HR" b="1" u="sng">
              <a:solidFill>
                <a:srgbClr val="FF0000"/>
              </a:solidFill>
            </a:endParaRPr>
          </a:p>
        </p:txBody>
      </p:sp>
      <p:sp>
        <p:nvSpPr>
          <p:cNvPr id="841639126" name="Rectangle 16"/>
          <p:cNvSpPr/>
          <p:nvPr/>
        </p:nvSpPr>
        <p:spPr bwMode="auto">
          <a:xfrm>
            <a:off x="736600" y="2890568"/>
            <a:ext cx="1971038" cy="86359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FIZIOLOŠKE ZNAČAJKE </a:t>
            </a:r>
            <a:endParaRPr/>
          </a:p>
          <a:p>
            <a:pPr algn="ctr">
              <a:defRPr/>
            </a:pPr>
            <a:r>
              <a:rPr lang="hr-HR"/>
              <a:t>pre-startle</a:t>
            </a:r>
            <a:endParaRPr lang="en-GB"/>
          </a:p>
        </p:txBody>
      </p:sp>
      <p:sp>
        <p:nvSpPr>
          <p:cNvPr id="1922483463" name="Rectangle 17"/>
          <p:cNvSpPr/>
          <p:nvPr/>
        </p:nvSpPr>
        <p:spPr bwMode="auto">
          <a:xfrm>
            <a:off x="736600" y="5264086"/>
            <a:ext cx="1971038" cy="863598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METRIKA PERFORMANSI</a:t>
            </a:r>
            <a:endParaRPr/>
          </a:p>
          <a:p>
            <a:pPr algn="ctr">
              <a:defRPr/>
            </a:pPr>
            <a:r>
              <a:rPr lang="hr-HR"/>
              <a:t>startle</a:t>
            </a:r>
            <a:endParaRPr lang="en-GB"/>
          </a:p>
        </p:txBody>
      </p:sp>
      <p:sp>
        <p:nvSpPr>
          <p:cNvPr id="2053989248" name="Oval 18"/>
          <p:cNvSpPr/>
          <p:nvPr/>
        </p:nvSpPr>
        <p:spPr bwMode="auto">
          <a:xfrm>
            <a:off x="772160" y="3995267"/>
            <a:ext cx="1899919" cy="9855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MODEL</a:t>
            </a:r>
            <a:endParaRPr lang="en-GB"/>
          </a:p>
        </p:txBody>
      </p:sp>
      <p:cxnSp>
        <p:nvCxnSpPr>
          <p:cNvPr id="1608964436" name="Straight Arrow Connector 20"/>
          <p:cNvCxnSpPr>
            <a:cxnSpLocks/>
          </p:cNvCxnSpPr>
          <p:nvPr/>
        </p:nvCxnSpPr>
        <p:spPr bwMode="auto">
          <a:xfrm>
            <a:off x="1722120" y="3754168"/>
            <a:ext cx="0" cy="241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955184" name="Straight Arrow Connector 21"/>
          <p:cNvCxnSpPr>
            <a:cxnSpLocks/>
          </p:cNvCxnSpPr>
          <p:nvPr/>
        </p:nvCxnSpPr>
        <p:spPr bwMode="auto">
          <a:xfrm>
            <a:off x="1722120" y="4980787"/>
            <a:ext cx="0" cy="283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07543664" name="Picture 130754366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45179" y="1219836"/>
            <a:ext cx="7920659" cy="700129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1580149" name="Title 1"/>
          <p:cNvSpPr>
            <a:spLocks noGrp="1"/>
          </p:cNvSpPr>
          <p:nvPr>
            <p:ph type="title"/>
          </p:nvPr>
        </p:nvSpPr>
        <p:spPr bwMode="auto">
          <a:xfrm>
            <a:off x="0" y="58465"/>
            <a:ext cx="14630400" cy="1292661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4988255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49B897-CCAB-69E0-C00C-AD82A86270B1}" type="slidenum">
              <a:rPr lang="hr-HR"/>
              <a:t>29</a:t>
            </a:fld>
            <a:endParaRPr lang="hr-HR"/>
          </a:p>
        </p:txBody>
      </p:sp>
      <p:sp>
        <p:nvSpPr>
          <p:cNvPr id="1805481379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1934" cy="38897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Razvoj modela</a:t>
            </a:r>
            <a:endParaRPr lang="hr-HR" b="1" u="sng">
              <a:solidFill>
                <a:srgbClr val="FF0000"/>
              </a:solidFill>
            </a:endParaRPr>
          </a:p>
        </p:txBody>
      </p:sp>
      <p:sp>
        <p:nvSpPr>
          <p:cNvPr id="204553773" name="Content Placeholder 7"/>
          <p:cNvSpPr txBox="1"/>
          <p:nvPr/>
        </p:nvSpPr>
        <p:spPr bwMode="auto">
          <a:xfrm>
            <a:off x="4466736" y="2963493"/>
            <a:ext cx="9833173" cy="265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5" indent="-455785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5" indent="-379821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6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1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5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2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2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defRPr/>
            </a:pPr>
            <a:r>
              <a:rPr sz="2800">
                <a:solidFill>
                  <a:schemeClr val="tx1"/>
                </a:solidFill>
              </a:rPr>
              <a:t>Leave-One-Group-Out Cross-Validation</a:t>
            </a:r>
          </a:p>
          <a:p>
            <a:pPr lvl="1">
              <a:defRPr/>
            </a:pPr>
            <a:r>
              <a:rPr sz="2800">
                <a:solidFill>
                  <a:schemeClr val="tx1"/>
                </a:solidFill>
              </a:rPr>
              <a:t>prosječna točnost: 49%</a:t>
            </a:r>
          </a:p>
          <a:p>
            <a:pPr marL="607713" lvl="1" indent="0">
              <a:buNone/>
              <a:defRPr/>
            </a:pPr>
            <a:endParaRPr sz="280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Leave-One-Out Cross-Validation</a:t>
            </a:r>
            <a:endParaRPr sz="280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prosječna točnost: 42%</a:t>
            </a:r>
            <a:endParaRPr sz="2800">
              <a:solidFill>
                <a:schemeClr val="tx1"/>
              </a:solidFill>
            </a:endParaRPr>
          </a:p>
          <a:p>
            <a:pPr marL="607713" lvl="1" indent="0">
              <a:buNone/>
              <a:defRPr/>
            </a:pPr>
            <a:endParaRPr sz="2800">
              <a:solidFill>
                <a:schemeClr val="tx1"/>
              </a:solidFill>
            </a:endParaRPr>
          </a:p>
        </p:txBody>
      </p:sp>
      <p:sp>
        <p:nvSpPr>
          <p:cNvPr id="1985998457" name="Rectangle 16"/>
          <p:cNvSpPr/>
          <p:nvPr/>
        </p:nvSpPr>
        <p:spPr bwMode="auto">
          <a:xfrm>
            <a:off x="736600" y="2890568"/>
            <a:ext cx="1971038" cy="86359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FIZIOLOŠKE ZNAČAJKE </a:t>
            </a:r>
            <a:endParaRPr/>
          </a:p>
          <a:p>
            <a:pPr algn="ctr">
              <a:defRPr/>
            </a:pPr>
            <a:r>
              <a:rPr lang="hr-HR"/>
              <a:t>pre-startle</a:t>
            </a:r>
            <a:endParaRPr lang="en-GB"/>
          </a:p>
        </p:txBody>
      </p:sp>
      <p:sp>
        <p:nvSpPr>
          <p:cNvPr id="1065107013" name="Rectangle 17"/>
          <p:cNvSpPr/>
          <p:nvPr/>
        </p:nvSpPr>
        <p:spPr bwMode="auto">
          <a:xfrm>
            <a:off x="736600" y="5264086"/>
            <a:ext cx="1971038" cy="863598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METRIKA PERFORMANSI</a:t>
            </a:r>
            <a:endParaRPr/>
          </a:p>
          <a:p>
            <a:pPr algn="ctr">
              <a:defRPr/>
            </a:pPr>
            <a:r>
              <a:rPr lang="hr-HR"/>
              <a:t>startle</a:t>
            </a:r>
            <a:endParaRPr lang="en-GB"/>
          </a:p>
        </p:txBody>
      </p:sp>
      <p:sp>
        <p:nvSpPr>
          <p:cNvPr id="1261344618" name="Oval 18"/>
          <p:cNvSpPr/>
          <p:nvPr/>
        </p:nvSpPr>
        <p:spPr bwMode="auto">
          <a:xfrm>
            <a:off x="772160" y="3995267"/>
            <a:ext cx="1899919" cy="9855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MODEL</a:t>
            </a:r>
            <a:endParaRPr lang="en-GB"/>
          </a:p>
        </p:txBody>
      </p:sp>
      <p:cxnSp>
        <p:nvCxnSpPr>
          <p:cNvPr id="66490943" name="Straight Arrow Connector 20"/>
          <p:cNvCxnSpPr>
            <a:cxnSpLocks/>
          </p:cNvCxnSpPr>
          <p:nvPr/>
        </p:nvCxnSpPr>
        <p:spPr bwMode="auto">
          <a:xfrm>
            <a:off x="1722120" y="3754168"/>
            <a:ext cx="0" cy="241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8894648" name="Straight Arrow Connector 21"/>
          <p:cNvCxnSpPr>
            <a:cxnSpLocks/>
          </p:cNvCxnSpPr>
          <p:nvPr/>
        </p:nvCxnSpPr>
        <p:spPr bwMode="auto">
          <a:xfrm>
            <a:off x="1722120" y="4980787"/>
            <a:ext cx="0" cy="283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229426" name="Title 1"/>
          <p:cNvSpPr>
            <a:spLocks noGrp="1"/>
          </p:cNvSpPr>
          <p:nvPr>
            <p:ph type="title"/>
          </p:nvPr>
        </p:nvSpPr>
        <p:spPr bwMode="auto">
          <a:xfrm>
            <a:off x="0" y="58465"/>
            <a:ext cx="14630400" cy="1292661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6152248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8994D8-1AAB-B6FD-5F4A-FAFCB1D4EE3C}" type="slidenum">
              <a:rPr lang="hr-HR"/>
              <a:t>30</a:t>
            </a:fld>
            <a:endParaRPr lang="hr-HR"/>
          </a:p>
        </p:txBody>
      </p:sp>
      <p:sp>
        <p:nvSpPr>
          <p:cNvPr id="595686551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3332291" cy="15777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sz="195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Usporedba stvarne i predviđene kategorije performanse po kandidatu</a:t>
            </a:r>
            <a:endParaRPr sz="1950" b="1" i="0" u="none" strike="noStrike" cap="none" spc="0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marL="0" indent="0">
              <a:buNone/>
              <a:defRPr/>
            </a:pPr>
            <a:endParaRPr lang="hr-HR" b="1" u="sng"/>
          </a:p>
        </p:txBody>
      </p:sp>
      <p:pic>
        <p:nvPicPr>
          <p:cNvPr id="1166700204" name="Picture 116670020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08776" y="1463320"/>
            <a:ext cx="8225563" cy="6511409"/>
          </a:xfrm>
          <a:prstGeom prst="rect">
            <a:avLst/>
          </a:prstGeom>
        </p:spPr>
      </p:pic>
      <p:sp>
        <p:nvSpPr>
          <p:cNvPr id="183123334" name="TextBox 183123333"/>
          <p:cNvSpPr txBox="1"/>
          <p:nvPr/>
        </p:nvSpPr>
        <p:spPr bwMode="auto">
          <a:xfrm>
            <a:off x="1076356" y="3718199"/>
            <a:ext cx="730537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/>
              <a:t>53%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911536" name="Title 1"/>
          <p:cNvSpPr>
            <a:spLocks noGrp="1"/>
          </p:cNvSpPr>
          <p:nvPr>
            <p:ph type="title"/>
          </p:nvPr>
        </p:nvSpPr>
        <p:spPr bwMode="auto">
          <a:xfrm>
            <a:off x="0" y="58465"/>
            <a:ext cx="14630400" cy="1292661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1396267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17F96-8169-CED8-5423-69CEB4418C68}" type="slidenum">
              <a:rPr lang="hr-HR"/>
              <a:t>31</a:t>
            </a:fld>
            <a:endParaRPr lang="hr-HR"/>
          </a:p>
        </p:txBody>
      </p:sp>
      <p:sp>
        <p:nvSpPr>
          <p:cNvPr id="1271483899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1934" cy="38897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Razvoj modela</a:t>
            </a:r>
            <a:endParaRPr lang="hr-HR" b="1" u="sng">
              <a:solidFill>
                <a:srgbClr val="FF0000"/>
              </a:solidFill>
            </a:endParaRPr>
          </a:p>
        </p:txBody>
      </p:sp>
      <p:sp>
        <p:nvSpPr>
          <p:cNvPr id="660588453" name="Rectangle 22"/>
          <p:cNvSpPr/>
          <p:nvPr/>
        </p:nvSpPr>
        <p:spPr bwMode="auto">
          <a:xfrm>
            <a:off x="3869470" y="3170656"/>
            <a:ext cx="1971038" cy="86359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FIZIOLOŠKE ZNAČAJKE </a:t>
            </a:r>
            <a:endParaRPr/>
          </a:p>
          <a:p>
            <a:pPr algn="ctr">
              <a:defRPr/>
            </a:pPr>
            <a:r>
              <a:rPr lang="hr-HR"/>
              <a:t>pre-startle</a:t>
            </a:r>
            <a:endParaRPr lang="en-GB"/>
          </a:p>
        </p:txBody>
      </p:sp>
      <p:sp>
        <p:nvSpPr>
          <p:cNvPr id="217453554" name="Rectangle 23"/>
          <p:cNvSpPr/>
          <p:nvPr/>
        </p:nvSpPr>
        <p:spPr bwMode="auto">
          <a:xfrm>
            <a:off x="5964970" y="5657243"/>
            <a:ext cx="1971038" cy="863598"/>
          </a:xfrm>
          <a:prstGeom prst="rect">
            <a:avLst/>
          </a:prstGeom>
          <a:solidFill>
            <a:srgbClr val="2585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METRIKA PERFORMANSI</a:t>
            </a:r>
            <a:endParaRPr/>
          </a:p>
          <a:p>
            <a:pPr algn="ctr">
              <a:defRPr/>
            </a:pPr>
            <a:r>
              <a:rPr lang="hr-HR"/>
              <a:t>post-startle</a:t>
            </a:r>
            <a:endParaRPr lang="en-GB"/>
          </a:p>
        </p:txBody>
      </p:sp>
      <p:sp>
        <p:nvSpPr>
          <p:cNvPr id="1074129170" name="Oval 24"/>
          <p:cNvSpPr/>
          <p:nvPr/>
        </p:nvSpPr>
        <p:spPr bwMode="auto">
          <a:xfrm>
            <a:off x="6000529" y="4314223"/>
            <a:ext cx="1899919" cy="9855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MODEL</a:t>
            </a:r>
            <a:endParaRPr lang="en-GB"/>
          </a:p>
        </p:txBody>
      </p:sp>
      <p:cxnSp>
        <p:nvCxnSpPr>
          <p:cNvPr id="1022599255" name="Straight Arrow Connector 25"/>
          <p:cNvCxnSpPr>
            <a:cxnSpLocks/>
          </p:cNvCxnSpPr>
          <p:nvPr/>
        </p:nvCxnSpPr>
        <p:spPr bwMode="auto">
          <a:xfrm>
            <a:off x="4854990" y="4034256"/>
            <a:ext cx="1423776" cy="424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6844171" name="Straight Arrow Connector 26"/>
          <p:cNvCxnSpPr>
            <a:cxnSpLocks/>
          </p:cNvCxnSpPr>
          <p:nvPr/>
        </p:nvCxnSpPr>
        <p:spPr bwMode="auto">
          <a:xfrm>
            <a:off x="6950490" y="5299743"/>
            <a:ext cx="0" cy="357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57119273" name="Rectangle 28"/>
          <p:cNvSpPr/>
          <p:nvPr/>
        </p:nvSpPr>
        <p:spPr bwMode="auto">
          <a:xfrm>
            <a:off x="5964970" y="3170548"/>
            <a:ext cx="1971038" cy="863598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FIZIOLOŠKE ZNAČAJKE </a:t>
            </a:r>
            <a:endParaRPr/>
          </a:p>
          <a:p>
            <a:pPr algn="ctr">
              <a:defRPr/>
            </a:pPr>
            <a:r>
              <a:rPr lang="hr-HR"/>
              <a:t>startle</a:t>
            </a:r>
            <a:endParaRPr lang="en-GB"/>
          </a:p>
        </p:txBody>
      </p:sp>
      <p:sp>
        <p:nvSpPr>
          <p:cNvPr id="1520446896" name="Rectangle 29"/>
          <p:cNvSpPr/>
          <p:nvPr/>
        </p:nvSpPr>
        <p:spPr bwMode="auto">
          <a:xfrm>
            <a:off x="8060470" y="3187311"/>
            <a:ext cx="1971038" cy="863598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METRIKA PERFORMANSI</a:t>
            </a:r>
            <a:endParaRPr/>
          </a:p>
          <a:p>
            <a:pPr algn="ctr">
              <a:defRPr/>
            </a:pPr>
            <a:r>
              <a:rPr lang="hr-HR"/>
              <a:t>startle</a:t>
            </a:r>
            <a:endParaRPr lang="en-GB"/>
          </a:p>
        </p:txBody>
      </p:sp>
      <p:cxnSp>
        <p:nvCxnSpPr>
          <p:cNvPr id="1546140224" name="Straight Arrow Connector 33"/>
          <p:cNvCxnSpPr>
            <a:cxnSpLocks/>
          </p:cNvCxnSpPr>
          <p:nvPr/>
        </p:nvCxnSpPr>
        <p:spPr bwMode="auto">
          <a:xfrm flipH="1">
            <a:off x="7622213" y="4050911"/>
            <a:ext cx="1423776" cy="40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1934316" name="Straight Arrow Connector 34"/>
          <p:cNvCxnSpPr>
            <a:cxnSpLocks/>
          </p:cNvCxnSpPr>
          <p:nvPr/>
        </p:nvCxnSpPr>
        <p:spPr bwMode="auto">
          <a:xfrm>
            <a:off x="6950490" y="4034148"/>
            <a:ext cx="0" cy="280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404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3CA5E2-49BD-C3D6-93D1-170BBB8669C6}" type="slidenum">
              <a:rPr lang="hr-HR"/>
              <a:t>32</a:t>
            </a:fld>
            <a:endParaRPr lang="hr-HR"/>
          </a:p>
        </p:txBody>
      </p:sp>
      <p:pic>
        <p:nvPicPr>
          <p:cNvPr id="1803114419" name="Picture 180311441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34065" y="45847"/>
            <a:ext cx="9017981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613103" name="Title 1"/>
          <p:cNvSpPr>
            <a:spLocks noGrp="1"/>
          </p:cNvSpPr>
          <p:nvPr>
            <p:ph type="title"/>
          </p:nvPr>
        </p:nvSpPr>
        <p:spPr bwMode="auto">
          <a:xfrm>
            <a:off x="0" y="58465"/>
            <a:ext cx="14630400" cy="1292661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1179017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5D4E39-B890-AF1E-CC2C-BF67B4D2367C}" type="slidenum">
              <a:rPr lang="hr-HR"/>
              <a:t>33</a:t>
            </a:fld>
            <a:endParaRPr lang="hr-HR"/>
          </a:p>
        </p:txBody>
      </p:sp>
      <p:sp>
        <p:nvSpPr>
          <p:cNvPr id="18384875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13981934" cy="38897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b="1"/>
              <a:t>Razvoj modela</a:t>
            </a:r>
            <a:endParaRPr lang="hr-HR" b="1" u="sng">
              <a:solidFill>
                <a:srgbClr val="FF0000"/>
              </a:solidFill>
            </a:endParaRPr>
          </a:p>
        </p:txBody>
      </p:sp>
      <p:sp>
        <p:nvSpPr>
          <p:cNvPr id="505539825" name="Rectangle 22"/>
          <p:cNvSpPr/>
          <p:nvPr/>
        </p:nvSpPr>
        <p:spPr bwMode="auto">
          <a:xfrm>
            <a:off x="316534" y="3153893"/>
            <a:ext cx="1971038" cy="86359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FIZIOLOŠKE ZNAČAJKE </a:t>
            </a:r>
            <a:endParaRPr/>
          </a:p>
          <a:p>
            <a:pPr algn="ctr">
              <a:defRPr/>
            </a:pPr>
            <a:r>
              <a:rPr lang="hr-HR"/>
              <a:t>pre-startle</a:t>
            </a:r>
            <a:endParaRPr lang="en-GB"/>
          </a:p>
        </p:txBody>
      </p:sp>
      <p:sp>
        <p:nvSpPr>
          <p:cNvPr id="1021431393" name="Rectangle 23"/>
          <p:cNvSpPr/>
          <p:nvPr/>
        </p:nvSpPr>
        <p:spPr bwMode="auto">
          <a:xfrm>
            <a:off x="2412036" y="5640480"/>
            <a:ext cx="1971038" cy="863598"/>
          </a:xfrm>
          <a:prstGeom prst="rect">
            <a:avLst/>
          </a:prstGeom>
          <a:solidFill>
            <a:srgbClr val="2585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METRIKA PERFORMANSI</a:t>
            </a:r>
            <a:endParaRPr/>
          </a:p>
          <a:p>
            <a:pPr algn="ctr">
              <a:defRPr/>
            </a:pPr>
            <a:r>
              <a:rPr lang="hr-HR"/>
              <a:t>post-startle</a:t>
            </a:r>
            <a:endParaRPr lang="en-GB"/>
          </a:p>
        </p:txBody>
      </p:sp>
      <p:sp>
        <p:nvSpPr>
          <p:cNvPr id="1109925414" name="Oval 24"/>
          <p:cNvSpPr/>
          <p:nvPr/>
        </p:nvSpPr>
        <p:spPr bwMode="auto">
          <a:xfrm>
            <a:off x="2447595" y="4297460"/>
            <a:ext cx="1899919" cy="9855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MODEL</a:t>
            </a:r>
            <a:endParaRPr lang="en-GB"/>
          </a:p>
        </p:txBody>
      </p:sp>
      <p:cxnSp>
        <p:nvCxnSpPr>
          <p:cNvPr id="1115229947" name="Straight Arrow Connector 25"/>
          <p:cNvCxnSpPr>
            <a:cxnSpLocks/>
          </p:cNvCxnSpPr>
          <p:nvPr/>
        </p:nvCxnSpPr>
        <p:spPr bwMode="auto">
          <a:xfrm>
            <a:off x="1302055" y="4017493"/>
            <a:ext cx="1423776" cy="424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6148787" name="Straight Arrow Connector 26"/>
          <p:cNvCxnSpPr>
            <a:cxnSpLocks/>
          </p:cNvCxnSpPr>
          <p:nvPr/>
        </p:nvCxnSpPr>
        <p:spPr bwMode="auto">
          <a:xfrm>
            <a:off x="3397555" y="5282980"/>
            <a:ext cx="0" cy="357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497831" name="Rectangle 28"/>
          <p:cNvSpPr/>
          <p:nvPr/>
        </p:nvSpPr>
        <p:spPr bwMode="auto">
          <a:xfrm>
            <a:off x="2412036" y="3153785"/>
            <a:ext cx="1971038" cy="863598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FIZIOLOŠKE ZNAČAJKE </a:t>
            </a:r>
            <a:endParaRPr/>
          </a:p>
          <a:p>
            <a:pPr algn="ctr">
              <a:defRPr/>
            </a:pPr>
            <a:r>
              <a:rPr lang="hr-HR"/>
              <a:t>startle</a:t>
            </a:r>
            <a:endParaRPr lang="en-GB"/>
          </a:p>
        </p:txBody>
      </p:sp>
      <p:sp>
        <p:nvSpPr>
          <p:cNvPr id="560132599" name="Rectangle 29"/>
          <p:cNvSpPr/>
          <p:nvPr/>
        </p:nvSpPr>
        <p:spPr bwMode="auto">
          <a:xfrm>
            <a:off x="4507535" y="3170548"/>
            <a:ext cx="1971038" cy="863598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hr-HR"/>
              <a:t>METRIKA PERFORMANSI</a:t>
            </a:r>
            <a:endParaRPr/>
          </a:p>
          <a:p>
            <a:pPr algn="ctr">
              <a:defRPr/>
            </a:pPr>
            <a:r>
              <a:rPr lang="hr-HR"/>
              <a:t>startle</a:t>
            </a:r>
            <a:endParaRPr lang="en-GB"/>
          </a:p>
        </p:txBody>
      </p:sp>
      <p:cxnSp>
        <p:nvCxnSpPr>
          <p:cNvPr id="1084148318" name="Straight Arrow Connector 33"/>
          <p:cNvCxnSpPr>
            <a:cxnSpLocks/>
          </p:cNvCxnSpPr>
          <p:nvPr/>
        </p:nvCxnSpPr>
        <p:spPr bwMode="auto">
          <a:xfrm flipH="1">
            <a:off x="4069278" y="4034148"/>
            <a:ext cx="1423776" cy="40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2466411" name="Straight Arrow Connector 34"/>
          <p:cNvCxnSpPr>
            <a:cxnSpLocks/>
          </p:cNvCxnSpPr>
          <p:nvPr/>
        </p:nvCxnSpPr>
        <p:spPr bwMode="auto">
          <a:xfrm>
            <a:off x="3397555" y="4017385"/>
            <a:ext cx="0" cy="280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716721" name="Content Placeholder 7"/>
          <p:cNvSpPr txBox="1"/>
          <p:nvPr/>
        </p:nvSpPr>
        <p:spPr bwMode="auto">
          <a:xfrm>
            <a:off x="6847787" y="2988360"/>
            <a:ext cx="9834252" cy="265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5785" indent="-455785" algn="l">
              <a:spcBef>
                <a:spcPts val="0"/>
              </a:spcBef>
              <a:spcAft>
                <a:spcPts val="0"/>
              </a:spcAft>
              <a:buChar char="•"/>
              <a:defRPr sz="19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7535" indent="-379821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2pPr>
            <a:lvl3pPr marL="1519286" indent="-303858" algn="l">
              <a:spcBef>
                <a:spcPts val="0"/>
              </a:spcBef>
              <a:spcAft>
                <a:spcPts val="0"/>
              </a:spcAft>
              <a:buChar char="•"/>
              <a:defRPr sz="1750">
                <a:solidFill>
                  <a:schemeClr val="tx1"/>
                </a:solidFill>
                <a:latin typeface="+mn-lt"/>
              </a:defRPr>
            </a:lvl3pPr>
            <a:lvl4pPr marL="2127001" indent="-303858" algn="l">
              <a:spcBef>
                <a:spcPts val="0"/>
              </a:spcBef>
              <a:spcAft>
                <a:spcPts val="0"/>
              </a:spcAft>
              <a:buChar char="–"/>
              <a:defRPr sz="1750">
                <a:solidFill>
                  <a:srgbClr val="0070C0"/>
                </a:solidFill>
                <a:latin typeface="+mn-lt"/>
              </a:defRPr>
            </a:lvl4pPr>
            <a:lvl5pPr marL="2734715" indent="-303858" algn="l">
              <a:spcBef>
                <a:spcPts val="0"/>
              </a:spcBef>
              <a:spcAft>
                <a:spcPts val="0"/>
              </a:spcAft>
              <a:buChar char="»"/>
              <a:defRPr sz="1750">
                <a:solidFill>
                  <a:schemeClr val="tx1"/>
                </a:solidFill>
                <a:latin typeface="+mn-lt"/>
              </a:defRPr>
            </a:lvl5pPr>
            <a:lvl6pPr marL="334242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6pPr>
            <a:lvl7pPr marL="3950143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7pPr>
            <a:lvl8pPr marL="4557858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8pPr>
            <a:lvl9pPr marL="5165572" indent="-303858" algn="l">
              <a:spcBef>
                <a:spcPts val="0"/>
              </a:spcBef>
              <a:spcAft>
                <a:spcPts val="0"/>
              </a:spcAft>
              <a:buChar char="»"/>
              <a:defRPr>
                <a:solidFill>
                  <a:srgbClr val="5F5F5F"/>
                </a:solidFill>
                <a:latin typeface="+mn-lt"/>
              </a:defRPr>
            </a:lvl9pPr>
          </a:lstStyle>
          <a:p>
            <a:pPr>
              <a:defRPr/>
            </a:pPr>
            <a:r>
              <a:rPr sz="2800">
                <a:solidFill>
                  <a:schemeClr val="tx1"/>
                </a:solidFill>
              </a:rPr>
              <a:t>Leave-One-Group-Out Cross-Validation</a:t>
            </a:r>
          </a:p>
          <a:p>
            <a:pPr lvl="1">
              <a:defRPr/>
            </a:pPr>
            <a:r>
              <a:rPr sz="2800">
                <a:solidFill>
                  <a:schemeClr val="tx1"/>
                </a:solidFill>
              </a:rPr>
              <a:t>prosječna točnost: 44%</a:t>
            </a:r>
          </a:p>
          <a:p>
            <a:pPr marL="607713" lvl="1" indent="0">
              <a:buNone/>
              <a:defRPr/>
            </a:pPr>
            <a:endParaRPr sz="280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Leave-One-Out Cross-Validation</a:t>
            </a:r>
            <a:endParaRPr sz="280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prosječna točnost: 44%</a:t>
            </a:r>
            <a:endParaRPr sz="2800">
              <a:solidFill>
                <a:schemeClr val="tx1"/>
              </a:solidFill>
            </a:endParaRPr>
          </a:p>
          <a:p>
            <a:pPr marL="607713" lvl="1" indent="0">
              <a:buNone/>
              <a:defRPr/>
            </a:pPr>
            <a:endParaRPr sz="28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878382" name="Title 1"/>
          <p:cNvSpPr>
            <a:spLocks noGrp="1"/>
          </p:cNvSpPr>
          <p:nvPr>
            <p:ph type="title"/>
          </p:nvPr>
        </p:nvSpPr>
        <p:spPr bwMode="auto">
          <a:xfrm>
            <a:off x="0" y="58465"/>
            <a:ext cx="14630400" cy="1292661"/>
          </a:xfrm>
        </p:spPr>
        <p:txBody>
          <a:bodyPr/>
          <a:lstStyle/>
          <a:p>
            <a:pPr>
              <a:defRPr/>
            </a:pPr>
            <a:r>
              <a:rPr lang="en-GB" sz="2600"/>
              <a:t>Razvoj Linear Discriminant Analysis (LDA) modela za estimaciju/predikciju performansi na simulatoru leta u startle uvjetima na temelju signala vodljivosti kože i aktivnosti srca</a:t>
            </a:r>
          </a:p>
        </p:txBody>
      </p:sp>
      <p:sp>
        <p:nvSpPr>
          <p:cNvPr id="320225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4D39E0-9DB2-D92E-E7B3-E8681D5C3016}" type="slidenum">
              <a:rPr lang="hr-HR"/>
              <a:t>34</a:t>
            </a:fld>
            <a:endParaRPr lang="hr-HR"/>
          </a:p>
        </p:txBody>
      </p:sp>
      <p:sp>
        <p:nvSpPr>
          <p:cNvPr id="1635781851" name="Content Placeholder 7"/>
          <p:cNvSpPr>
            <a:spLocks noGrp="1"/>
          </p:cNvSpPr>
          <p:nvPr>
            <p:ph idx="1"/>
          </p:nvPr>
        </p:nvSpPr>
        <p:spPr bwMode="auto">
          <a:xfrm>
            <a:off x="316534" y="1694641"/>
            <a:ext cx="3191612" cy="128052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hr-HR" sz="1950" b="1" i="0" u="none" strike="noStrike" cap="none" spc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Usporedba stvarne i predviđene kategorije performanse po kandidatu</a:t>
            </a:r>
          </a:p>
        </p:txBody>
      </p:sp>
      <p:pic>
        <p:nvPicPr>
          <p:cNvPr id="398328535" name="Picture 39832853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47255" y="1572177"/>
            <a:ext cx="8401762" cy="6542217"/>
          </a:xfrm>
          <a:prstGeom prst="rect">
            <a:avLst/>
          </a:prstGeom>
        </p:spPr>
      </p:pic>
      <p:sp>
        <p:nvSpPr>
          <p:cNvPr id="24582618" name="TextBox 24582617"/>
          <p:cNvSpPr txBox="1"/>
          <p:nvPr/>
        </p:nvSpPr>
        <p:spPr bwMode="auto">
          <a:xfrm>
            <a:off x="1076356" y="3718199"/>
            <a:ext cx="730537" cy="3965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1"/>
              <a:t>47%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ahoma"/>
        <a:ea typeface="Arial"/>
        <a:cs typeface="Arial"/>
      </a:majorFont>
      <a:minorFont>
        <a:latin typeface="Tahoma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ALICIA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que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1621</Words>
  <Application>Microsoft Office PowerPoint</Application>
  <PresentationFormat>Custom</PresentationFormat>
  <Paragraphs>251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ＭＳ Ｐゴシック</vt:lpstr>
      <vt:lpstr>Arial</vt:lpstr>
      <vt:lpstr>Calibri</vt:lpstr>
      <vt:lpstr>Consolas</vt:lpstr>
      <vt:lpstr>Segoe UI</vt:lpstr>
      <vt:lpstr>Tahoma</vt:lpstr>
      <vt:lpstr>Times New Roman</vt:lpstr>
      <vt:lpstr>Wingdings</vt:lpstr>
      <vt:lpstr>Default Design</vt:lpstr>
      <vt:lpstr>5_ALICIA Theme</vt:lpstr>
      <vt:lpstr>PowerPoint Presentation</vt:lpstr>
      <vt:lpstr>Sadržaj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  <vt:lpstr>PowerPoint Presentation</vt:lpstr>
      <vt:lpstr>Razvoj Linear Discriminant Analysis (LDA) modela za estimaciju/predikciju performansi na simulatoru leta u startle uvjetima na temelju signala vodljivosti kože i aktivnosti srca</vt:lpstr>
      <vt:lpstr>Razvoj Linear Discriminant Analysis (LDA) modela za estimaciju/predikciju performansi na simulatoru leta u startle uvjetima na temelju signala vodljivosti kože i aktivnosti srca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/>
  <cp:revision>277</cp:revision>
  <dcterms:created xsi:type="dcterms:W3CDTF">2020-02-02T21:28:40Z</dcterms:created>
  <dcterms:modified xsi:type="dcterms:W3CDTF">2025-01-29T15:12:23Z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0x010100DA5FA0E6990937438F53B23C2D440142</vt:lpwstr>
  </property>
</Properties>
</file>